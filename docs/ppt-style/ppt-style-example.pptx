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5303520"/>
            <a:ext cx="3840480" cy="2743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65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28655" cy="14884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4400" b="1">
                <a:solidFill>
                  <a:srgbClr val="0B2A6B"/>
                </a:solidFill>
                <a:latin typeface="Arial Black"/>
                <a:ea typeface="Microsoft YaHei"/>
              </a:rPr>
              <a:t>AI的钱，</a:t>
            </a:r>
          </a:p>
          <a:p>
            <a:pPr algn="l"/>
            <a:r>
              <a:rPr sz="4400" b="1">
                <a:solidFill>
                  <a:srgbClr val="0B2A6B"/>
                </a:solidFill>
                <a:latin typeface="Arial Black"/>
                <a:ea typeface="Microsoft YaHei"/>
              </a:rPr>
              <a:t>正在从 </a:t>
            </a:r>
            <a:r>
              <a:rPr sz="4400" b="1">
                <a:solidFill>
                  <a:srgbClr val="F26A1B"/>
                </a:solidFill>
                <a:latin typeface="Arial Black"/>
                <a:ea typeface="Microsoft YaHei"/>
              </a:rPr>
              <a:t>NVDA</a:t>
            </a:r>
            <a:r>
              <a:rPr sz="4400" b="1">
                <a:solidFill>
                  <a:srgbClr val="0B2A6B"/>
                </a:solidFill>
                <a:latin typeface="Arial Black"/>
                <a:ea typeface="Microsoft YaHei"/>
              </a:rPr>
              <a:t> 流向哪里？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00120"/>
            <a:ext cx="10728655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600" b="0">
                <a:solidFill>
                  <a:srgbClr val="6B7280"/>
                </a:solidFill>
                <a:latin typeface="Arial"/>
                <a:ea typeface="Microsoft YaHei"/>
              </a:rPr>
              <a:t>—— </a:t>
            </a: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一张图看懂 AI 产业链资金扩散路径</a:t>
            </a:r>
            <a:r>
              <a:rPr sz="1600" b="0">
                <a:solidFill>
                  <a:srgbClr val="6B7280"/>
                </a:solidFill>
                <a:latin typeface="Arial"/>
                <a:ea typeface="Microsoft YaHei"/>
              </a:rPr>
              <a:t> ——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40200"/>
            <a:ext cx="924560" cy="329184"/>
          </a:xfrm>
          <a:prstGeom prst="roundRect">
            <a:avLst>
              <a:gd name="adj" fmla="val 50000"/>
            </a:avLst>
          </a:prstGeom>
          <a:solidFill>
            <a:srgbClr val="1565E0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核心算力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93240" y="4140200"/>
            <a:ext cx="645160" cy="329184"/>
          </a:xfrm>
          <a:prstGeom prst="roundRect">
            <a:avLst>
              <a:gd name="adj" fmla="val 50000"/>
            </a:avLst>
          </a:prstGeom>
          <a:solidFill>
            <a:srgbClr val="F26A1B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存储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5560" y="4140200"/>
            <a:ext cx="784860" cy="329184"/>
          </a:xfrm>
          <a:prstGeom prst="roundRect">
            <a:avLst>
              <a:gd name="adj" fmla="val 50000"/>
            </a:avLst>
          </a:prstGeom>
          <a:solidFill>
            <a:srgbClr val="6A2BD9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光通信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7579" y="4140200"/>
            <a:ext cx="924560" cy="329184"/>
          </a:xfrm>
          <a:prstGeom prst="roundRect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数据中心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9300" y="4140200"/>
            <a:ext cx="645160" cy="329184"/>
          </a:xfrm>
          <a:prstGeom prst="roundRect">
            <a:avLst>
              <a:gd name="adj" fmla="val 50000"/>
            </a:avLst>
          </a:prstGeom>
          <a:solidFill>
            <a:srgbClr val="3E9B2F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能源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  <a:ea typeface="Microsoft YaHei"/>
              </a:rPr>
              <a:t>2026-09 · Tony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1415" y="6336792"/>
            <a:ext cx="2011680" cy="484632"/>
          </a:xfrm>
          <a:prstGeom prst="rect">
            <a:avLst/>
          </a:prstGeom>
          <a:noFill/>
        </p:spPr>
        <p:txBody>
          <a:bodyPr wrap="square" anchor="b" lIns="27432" rIns="27432" tIns="27432" bIns="27432"/>
          <a:lstStyle/>
          <a:p>
            <a:pPr algn="r"/>
            <a:r>
              <a:rPr sz="900" b="1">
                <a:solidFill>
                  <a:srgbClr val="0B2A6B"/>
                </a:solidFill>
                <a:latin typeface="Arial"/>
                <a:ea typeface="Microsoft YaHei"/>
              </a:rPr>
              <a:t>看趋势 · 把握方向</a:t>
            </a:r>
          </a:p>
          <a:p>
            <a:pPr algn="r"/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Confidential |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5303520"/>
            <a:ext cx="3840480" cy="2743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9905695" cy="63119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3400" b="1">
                <a:solidFill>
                  <a:srgbClr val="0B2A6B"/>
                </a:solidFill>
                <a:latin typeface="Arial Black"/>
                <a:ea typeface="Microsoft YaHei"/>
              </a:rPr>
              <a:t>AI的钱，正在从 </a:t>
            </a:r>
            <a:r>
              <a:rPr sz="3400" b="1">
                <a:solidFill>
                  <a:srgbClr val="F26A1B"/>
                </a:solidFill>
                <a:latin typeface="Arial Black"/>
                <a:ea typeface="Microsoft YaHei"/>
              </a:rPr>
              <a:t>NVDA</a:t>
            </a:r>
            <a:r>
              <a:rPr sz="3400" b="1">
                <a:solidFill>
                  <a:srgbClr val="0B2A6B"/>
                </a:solidFill>
                <a:latin typeface="Arial Black"/>
                <a:ea typeface="Microsoft YaHei"/>
              </a:rPr>
              <a:t> 流向哪里？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95781"/>
            <a:ext cx="9905695" cy="310896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—— </a:t>
            </a: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一张图看懂 AI 产业链资金扩散路径</a:t>
            </a:r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 ——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5735" y="210311"/>
            <a:ext cx="173736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565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28600"/>
            <a:ext cx="1645920" cy="585216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100" b="1">
                <a:solidFill>
                  <a:srgbClr val="1565E0"/>
                </a:solidFill>
                <a:latin typeface="Arial"/>
                <a:ea typeface="Microsoft YaHei"/>
              </a:rPr>
              <a:t>资金主线</a:t>
            </a:r>
          </a:p>
          <a:p>
            <a:pPr algn="ctr"/>
            <a:r>
              <a:rPr sz="800" b="0">
                <a:solidFill>
                  <a:srgbClr val="0B2A6B"/>
                </a:solidFill>
                <a:latin typeface="Arial"/>
                <a:ea typeface="Microsoft YaHei"/>
              </a:rPr>
              <a:t>HBM 存储 · 当前最强弹性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81582"/>
            <a:ext cx="10426903" cy="8101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1554734"/>
            <a:ext cx="340245" cy="340245"/>
          </a:xfrm>
          <a:prstGeom prst="ellipse">
            <a:avLst/>
          </a:prstGeom>
          <a:solidFill>
            <a:srgbClr val="1565E0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  <a:ea typeface="Microsoft YaHei"/>
              </a:rPr>
              <a:t>1</a:t>
            </a:r>
          </a:p>
        </p:txBody>
      </p:sp>
      <p:sp>
        <p:nvSpPr>
          <p:cNvPr id="9" name="Down Arrow 8"/>
          <p:cNvSpPr/>
          <p:nvPr/>
        </p:nvSpPr>
        <p:spPr>
          <a:xfrm>
            <a:off x="417010" y="1913267"/>
            <a:ext cx="237744" cy="286982"/>
          </a:xfrm>
          <a:prstGeom prst="downArrow">
            <a:avLst/>
          </a:prstGeom>
          <a:gradFill rotWithShape="1">
            <a:gsLst>
              <a:gs pos="0">
                <a:srgbClr val="EEF4FF"/>
              </a:gs>
              <a:gs pos="100000">
                <a:srgbClr val="1565E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733" y="1527302"/>
            <a:ext cx="2286000" cy="47625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1565E0"/>
                </a:solidFill>
                <a:latin typeface="Arial Black"/>
                <a:ea typeface="Microsoft YaHei"/>
              </a:rPr>
              <a:t>核心算力</a:t>
            </a:r>
          </a:p>
          <a:p>
            <a:pPr algn="l"/>
            <a:r>
              <a:rPr sz="1000" b="1">
                <a:solidFill>
                  <a:srgbClr val="1565E0"/>
                </a:solidFill>
                <a:latin typeface="Arial"/>
                <a:ea typeface="Microsoft YaHei"/>
              </a:rPr>
              <a:t>(已爆)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4021" y="1985264"/>
            <a:ext cx="736600" cy="192024"/>
          </a:xfrm>
          <a:prstGeom prst="roundRect">
            <a:avLst>
              <a:gd name="adj" fmla="val 50000"/>
            </a:avLst>
          </a:prstGeom>
          <a:solidFill>
            <a:srgbClr val="1565E0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已充分定价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3173" y="1536446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1565E0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NVIDIA (NVDA)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AMD (AMD)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41942" y="1618742"/>
            <a:ext cx="0" cy="535787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78518" y="1536446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1565E0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AI 浪潮起点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估值已高位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业绩高增持续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5303" y="1554734"/>
            <a:ext cx="1554480" cy="663803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1565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1879" y="1573022"/>
            <a:ext cx="1481328" cy="627227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1565E0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300" b="0">
                <a:solidFill>
                  <a:srgbClr val="1565E0"/>
                </a:solidFill>
                <a:latin typeface="Arial"/>
                <a:ea typeface="Microsoft YaHei"/>
              </a:rPr>
              <a:t>★★★☆☆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基本面优秀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弹性有限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383129"/>
            <a:ext cx="10426903" cy="810107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 w="31750">
            <a:solidFill>
              <a:srgbClr val="F26A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5760" y="2456281"/>
            <a:ext cx="340245" cy="340245"/>
          </a:xfrm>
          <a:prstGeom prst="ellipse">
            <a:avLst/>
          </a:prstGeom>
          <a:solidFill>
            <a:srgbClr val="F26A1B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  <a:ea typeface="Microsoft YaHei"/>
              </a:rPr>
              <a:t>2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17010" y="2814814"/>
            <a:ext cx="237744" cy="286982"/>
          </a:xfrm>
          <a:prstGeom prst="downArrow">
            <a:avLst/>
          </a:prstGeom>
          <a:gradFill rotWithShape="1">
            <a:gsLst>
              <a:gs pos="0">
                <a:srgbClr val="FFF4EC"/>
              </a:gs>
              <a:gs pos="100000">
                <a:srgbClr val="F26A1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733" y="2428849"/>
            <a:ext cx="2286000" cy="47625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F26A1B"/>
                </a:solidFill>
                <a:latin typeface="Arial Black"/>
                <a:ea typeface="Microsoft YaHei"/>
              </a:rPr>
              <a:t>存储</a:t>
            </a:r>
          </a:p>
          <a:p>
            <a:pPr algn="l"/>
            <a:r>
              <a:rPr sz="1000" b="1">
                <a:solidFill>
                  <a:srgbClr val="F26A1B"/>
                </a:solidFill>
                <a:latin typeface="Arial"/>
                <a:ea typeface="Microsoft YaHei"/>
              </a:rPr>
              <a:t>(正在爆)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4021" y="2886811"/>
            <a:ext cx="752855" cy="192024"/>
          </a:xfrm>
          <a:prstGeom prst="roundRect">
            <a:avLst>
              <a:gd name="adj" fmla="val 50000"/>
            </a:avLst>
          </a:prstGeom>
          <a:solidFill>
            <a:srgbClr val="F26A1B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α 最强阶段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3173" y="2437993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F26A1B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Micron (MU)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41942" y="2520289"/>
            <a:ext cx="0" cy="535788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78518" y="2437993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F26A1B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HBM 需求爆发</a:t>
            </a:r>
          </a:p>
          <a:p>
            <a:pPr algn="l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价格与量利双升</a:t>
            </a:r>
          </a:p>
          <a:p>
            <a:pPr algn="l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厂商受益最直接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5303" y="2456281"/>
            <a:ext cx="1554480" cy="66380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6A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1879" y="2474569"/>
            <a:ext cx="1481328" cy="627227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F26A1B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300" b="0">
                <a:solidFill>
                  <a:srgbClr val="F26A1B"/>
                </a:solidFill>
                <a:latin typeface="Arial"/>
                <a:ea typeface="Microsoft YaHei"/>
              </a:rPr>
              <a:t>★★★★★</a:t>
            </a:r>
          </a:p>
          <a:p>
            <a:pPr algn="ctr"/>
            <a:r>
              <a:rPr sz="850" b="1">
                <a:solidFill>
                  <a:srgbClr val="F26A1B"/>
                </a:solidFill>
                <a:latin typeface="Arial"/>
                <a:ea typeface="Microsoft YaHei"/>
              </a:rPr>
              <a:t>当前最强弹性</a:t>
            </a:r>
          </a:p>
          <a:p>
            <a:pPr algn="ctr"/>
            <a:r>
              <a:rPr sz="850" b="1">
                <a:solidFill>
                  <a:srgbClr val="F26A1B"/>
                </a:solidFill>
                <a:latin typeface="Arial"/>
                <a:ea typeface="Microsoft YaHei"/>
              </a:rPr>
              <a:t>主线机会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284677"/>
            <a:ext cx="10426903" cy="8101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5760" y="3357829"/>
            <a:ext cx="340245" cy="340245"/>
          </a:xfrm>
          <a:prstGeom prst="ellipse">
            <a:avLst/>
          </a:prstGeom>
          <a:solidFill>
            <a:srgbClr val="6A2BD9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  <a:ea typeface="Microsoft YaHei"/>
              </a:rPr>
              <a:t>3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17010" y="3716362"/>
            <a:ext cx="237744" cy="286982"/>
          </a:xfrm>
          <a:prstGeom prst="downArrow">
            <a:avLst/>
          </a:prstGeom>
          <a:gradFill rotWithShape="1">
            <a:gsLst>
              <a:gs pos="0">
                <a:srgbClr val="F4EFFF"/>
              </a:gs>
              <a:gs pos="100000">
                <a:srgbClr val="6A2BD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733" y="3330397"/>
            <a:ext cx="2286000" cy="47625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6A2BD9"/>
                </a:solidFill>
                <a:latin typeface="Arial Black"/>
                <a:ea typeface="Microsoft YaHei"/>
              </a:rPr>
              <a:t>光通信</a:t>
            </a:r>
          </a:p>
          <a:p>
            <a:pPr algn="l"/>
            <a:r>
              <a:rPr sz="1000" b="1">
                <a:solidFill>
                  <a:srgbClr val="6A2BD9"/>
                </a:solidFill>
                <a:latin typeface="Arial"/>
                <a:ea typeface="Microsoft YaHei"/>
              </a:rPr>
              <a:t>(刚启动)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4021" y="3788359"/>
            <a:ext cx="1116584" cy="192024"/>
          </a:xfrm>
          <a:prstGeom prst="roundRect">
            <a:avLst>
              <a:gd name="adj" fmla="val 50000"/>
            </a:avLst>
          </a:prstGeom>
          <a:solidFill>
            <a:srgbClr val="6A2BD9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高成长 · 早期爆发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93173" y="3339541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6A2BD9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Coherent (COHR)</a:t>
            </a:r>
          </a:p>
          <a:p>
            <a:pPr algn="l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Fabrinet (FN)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41942" y="3421837"/>
            <a:ext cx="0" cy="535787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78518" y="3339541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6A2BD9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数据量爆炸</a:t>
            </a:r>
          </a:p>
          <a:p>
            <a:pPr algn="l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光模块迎来放量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5303" y="3357829"/>
            <a:ext cx="1554480" cy="663803"/>
          </a:xfrm>
          <a:prstGeom prst="roundRect">
            <a:avLst>
              <a:gd name="adj" fmla="val 10000"/>
            </a:avLst>
          </a:prstGeom>
          <a:solidFill>
            <a:srgbClr val="F4EFFF"/>
          </a:solidFill>
          <a:ln w="12700">
            <a:solidFill>
              <a:srgbClr val="6A2B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1879" y="3376117"/>
            <a:ext cx="1481328" cy="627227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6A2BD9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300" b="0">
                <a:solidFill>
                  <a:srgbClr val="6A2BD9"/>
                </a:solidFill>
                <a:latin typeface="Arial"/>
                <a:ea typeface="Microsoft YaHei"/>
              </a:rPr>
              <a:t>★★★★☆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尚未完全定价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空间巨大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186224"/>
            <a:ext cx="10426903" cy="8101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5760" y="4259376"/>
            <a:ext cx="340245" cy="340245"/>
          </a:xfrm>
          <a:prstGeom prst="ellipse">
            <a:avLst/>
          </a:prstGeom>
          <a:solidFill>
            <a:srgbClr val="0E8F8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  <a:ea typeface="Microsoft YaHei"/>
              </a:rPr>
              <a:t>4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417010" y="4617909"/>
            <a:ext cx="237744" cy="286982"/>
          </a:xfrm>
          <a:prstGeom prst="downArrow">
            <a:avLst/>
          </a:prstGeom>
          <a:gradFill rotWithShape="1">
            <a:gsLst>
              <a:gs pos="0">
                <a:srgbClr val="EAF7F6"/>
              </a:gs>
              <a:gs pos="100000">
                <a:srgbClr val="0E8F8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733" y="4231944"/>
            <a:ext cx="2286000" cy="47625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0E8F8F"/>
                </a:solidFill>
                <a:latin typeface="Arial Black"/>
                <a:ea typeface="Microsoft YaHei"/>
              </a:rPr>
              <a:t>数据中心</a:t>
            </a:r>
          </a:p>
          <a:p>
            <a:pPr algn="l"/>
            <a:r>
              <a:rPr sz="1000" b="1">
                <a:solidFill>
                  <a:srgbClr val="0E8F8F"/>
                </a:solidFill>
                <a:latin typeface="Arial"/>
                <a:ea typeface="Microsoft YaHei"/>
              </a:rPr>
              <a:t>(扩散中)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4021" y="4689906"/>
            <a:ext cx="635000" cy="192024"/>
          </a:xfrm>
          <a:prstGeom prst="roundRect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稳定受益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93173" y="4241088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0E8F8F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0E8F8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Digital Realty (DLR)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41942" y="4323384"/>
            <a:ext cx="0" cy="535788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078518" y="4241088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0E8F8F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0E8F8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AI 算力的载体</a:t>
            </a:r>
          </a:p>
          <a:p>
            <a:pPr algn="l"/>
            <a:r>
              <a:rPr sz="900" b="1">
                <a:solidFill>
                  <a:srgbClr val="0E8F8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REITs 估值优势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5303" y="4259376"/>
            <a:ext cx="1554480" cy="663803"/>
          </a:xfrm>
          <a:prstGeom prst="roundRect">
            <a:avLst>
              <a:gd name="adj" fmla="val 10000"/>
            </a:avLst>
          </a:prstGeom>
          <a:solidFill>
            <a:srgbClr val="EAF7F6"/>
          </a:solidFill>
          <a:ln w="12700">
            <a:solidFill>
              <a:srgbClr val="0E8F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1879" y="4277664"/>
            <a:ext cx="1481328" cy="627227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0E8F8F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300" b="0">
                <a:solidFill>
                  <a:srgbClr val="0E8F8F"/>
                </a:solidFill>
                <a:latin typeface="Arial"/>
                <a:ea typeface="Microsoft YaHei"/>
              </a:rPr>
              <a:t>★★★☆☆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稳健受益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资金稳步流入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5087772"/>
            <a:ext cx="10426903" cy="8101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5760" y="5160924"/>
            <a:ext cx="340245" cy="340245"/>
          </a:xfrm>
          <a:prstGeom prst="ellipse">
            <a:avLst/>
          </a:prstGeom>
          <a:solidFill>
            <a:srgbClr val="3E9B2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  <a:ea typeface="Microsoft YaHei"/>
              </a:rPr>
              <a:t>5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417010" y="5519457"/>
            <a:ext cx="237744" cy="286982"/>
          </a:xfrm>
          <a:prstGeom prst="downArrow">
            <a:avLst/>
          </a:prstGeom>
          <a:gradFill rotWithShape="1">
            <a:gsLst>
              <a:gs pos="0">
                <a:srgbClr val="EFF8EC"/>
              </a:gs>
              <a:gs pos="100000">
                <a:srgbClr val="3E9B2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5733" y="5133492"/>
            <a:ext cx="2286000" cy="47625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3E9B2F"/>
                </a:solidFill>
                <a:latin typeface="Arial Black"/>
                <a:ea typeface="Microsoft YaHei"/>
              </a:rPr>
              <a:t>能源</a:t>
            </a:r>
          </a:p>
          <a:p>
            <a:pPr algn="l"/>
            <a:r>
              <a:rPr sz="1000" b="1">
                <a:solidFill>
                  <a:srgbClr val="3E9B2F"/>
                </a:solidFill>
                <a:latin typeface="Arial"/>
                <a:ea typeface="Microsoft YaHei"/>
              </a:rPr>
              <a:t>(下一站)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4021" y="5591454"/>
            <a:ext cx="1116584" cy="192024"/>
          </a:xfrm>
          <a:prstGeom prst="roundRect">
            <a:avLst>
              <a:gd name="adj" fmla="val 50000"/>
            </a:avLst>
          </a:prstGeom>
          <a:solidFill>
            <a:srgbClr val="3E9B2F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长周期 · 终极受益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93173" y="5142636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3E9B2F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Vistra (VST)</a:t>
            </a:r>
          </a:p>
          <a:p>
            <a:pPr algn="l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Constellation (CEG)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041942" y="5224932"/>
            <a:ext cx="0" cy="535787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078518" y="5142636"/>
            <a:ext cx="2793905" cy="700379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3E9B2F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电力缺口扩大</a:t>
            </a:r>
          </a:p>
          <a:p>
            <a:pPr algn="l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政策支持明确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55303" y="5160924"/>
            <a:ext cx="1554480" cy="663803"/>
          </a:xfrm>
          <a:prstGeom prst="roundRect">
            <a:avLst>
              <a:gd name="adj" fmla="val 10000"/>
            </a:avLst>
          </a:prstGeom>
          <a:solidFill>
            <a:srgbClr val="EFF8EC"/>
          </a:solidFill>
          <a:ln w="12700">
            <a:solidFill>
              <a:srgbClr val="3E9B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1879" y="5179212"/>
            <a:ext cx="1481328" cy="627227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3E9B2F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300" b="0">
                <a:solidFill>
                  <a:srgbClr val="3E9B2F"/>
                </a:solidFill>
                <a:latin typeface="Arial"/>
                <a:ea typeface="Microsoft YaHei"/>
              </a:rPr>
              <a:t>★★☆☆☆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长周期价值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最后受益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82935" y="1207262"/>
            <a:ext cx="1280160" cy="256032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1000" b="1">
                <a:solidFill>
                  <a:srgbClr val="0B2A6B"/>
                </a:solidFill>
                <a:latin typeface="Arial"/>
                <a:ea typeface="Microsoft YaHei"/>
              </a:rPr>
              <a:t>资金扩散顺序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323015" y="1481582"/>
            <a:ext cx="0" cy="4416298"/>
          </a:xfrm>
          <a:prstGeom prst="line">
            <a:avLst/>
          </a:prstGeom>
          <a:ln w="15875">
            <a:solidFill>
              <a:srgbClr val="9AA8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11167567" y="1575739"/>
            <a:ext cx="310896" cy="310896"/>
          </a:xfrm>
          <a:prstGeom prst="ellipse">
            <a:avLst/>
          </a:prstGeom>
          <a:solidFill>
            <a:srgbClr val="1565E0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74375" y="1904923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已爆发</a:t>
            </a:r>
          </a:p>
        </p:txBody>
      </p:sp>
      <p:sp>
        <p:nvSpPr>
          <p:cNvPr id="61" name="Isosceles Triangle 60"/>
          <p:cNvSpPr/>
          <p:nvPr/>
        </p:nvSpPr>
        <p:spPr>
          <a:xfrm rot="10800000">
            <a:off x="11268151" y="2309977"/>
            <a:ext cx="109728" cy="82296"/>
          </a:xfrm>
          <a:prstGeom prst="triangle">
            <a:avLst/>
          </a:prstGeom>
          <a:solidFill>
            <a:srgbClr val="F26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167567" y="2458999"/>
            <a:ext cx="310896" cy="310896"/>
          </a:xfrm>
          <a:prstGeom prst="ellipse">
            <a:avLst/>
          </a:prstGeom>
          <a:solidFill>
            <a:srgbClr val="F26A1B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74375" y="2788183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主升浪</a:t>
            </a:r>
          </a:p>
        </p:txBody>
      </p:sp>
      <p:sp>
        <p:nvSpPr>
          <p:cNvPr id="64" name="Isosceles Triangle 63"/>
          <p:cNvSpPr/>
          <p:nvPr/>
        </p:nvSpPr>
        <p:spPr>
          <a:xfrm rot="10800000">
            <a:off x="11268151" y="3193237"/>
            <a:ext cx="109728" cy="82296"/>
          </a:xfrm>
          <a:prstGeom prst="triangle">
            <a:avLst/>
          </a:prstGeom>
          <a:solidFill>
            <a:srgbClr val="6A2B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167567" y="3342259"/>
            <a:ext cx="310896" cy="310896"/>
          </a:xfrm>
          <a:prstGeom prst="ellipse">
            <a:avLst/>
          </a:prstGeom>
          <a:solidFill>
            <a:srgbClr val="6A2BD9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74375" y="3671443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加速前夜</a:t>
            </a:r>
          </a:p>
        </p:txBody>
      </p:sp>
      <p:sp>
        <p:nvSpPr>
          <p:cNvPr id="67" name="Isosceles Triangle 66"/>
          <p:cNvSpPr/>
          <p:nvPr/>
        </p:nvSpPr>
        <p:spPr>
          <a:xfrm rot="10800000">
            <a:off x="11268151" y="4076496"/>
            <a:ext cx="109728" cy="82296"/>
          </a:xfrm>
          <a:prstGeom prst="triangle">
            <a:avLst/>
          </a:prstGeom>
          <a:solidFill>
            <a:srgbClr val="0E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167567" y="4225518"/>
            <a:ext cx="310896" cy="310896"/>
          </a:xfrm>
          <a:prstGeom prst="ellipse">
            <a:avLst/>
          </a:prstGeom>
          <a:solidFill>
            <a:srgbClr val="0E8F8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74375" y="4554702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0E8F8F"/>
                </a:solidFill>
                <a:latin typeface="Arial"/>
                <a:ea typeface="Microsoft YaHei"/>
              </a:rPr>
              <a:t>稳步扩散</a:t>
            </a:r>
          </a:p>
        </p:txBody>
      </p:sp>
      <p:sp>
        <p:nvSpPr>
          <p:cNvPr id="70" name="Isosceles Triangle 69"/>
          <p:cNvSpPr/>
          <p:nvPr/>
        </p:nvSpPr>
        <p:spPr>
          <a:xfrm rot="10800000">
            <a:off x="11268151" y="4959756"/>
            <a:ext cx="109728" cy="82296"/>
          </a:xfrm>
          <a:prstGeom prst="triangle">
            <a:avLst/>
          </a:prstGeom>
          <a:solidFill>
            <a:srgbClr val="3E9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167567" y="5108778"/>
            <a:ext cx="310896" cy="310896"/>
          </a:xfrm>
          <a:prstGeom prst="ellipse">
            <a:avLst/>
          </a:prstGeom>
          <a:solidFill>
            <a:srgbClr val="3E9B2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74375" y="5437962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长线布局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5971032"/>
            <a:ext cx="1164305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5971032"/>
            <a:ext cx="457200" cy="42062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2000" b="1">
                <a:solidFill>
                  <a:srgbClr val="1565E0"/>
                </a:solidFill>
                <a:latin typeface="Arial"/>
                <a:ea typeface="Microsoft YaHei"/>
              </a:rPr>
              <a:t>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971032"/>
            <a:ext cx="10911535" cy="42062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700" b="1">
                <a:solidFill>
                  <a:srgbClr val="0B2A6B"/>
                </a:solidFill>
                <a:latin typeface="Arial Black"/>
                <a:ea typeface="Microsoft YaHei"/>
              </a:rPr>
              <a:t>钱不会消失，只会提前流向</a:t>
            </a:r>
            <a:r>
              <a:rPr sz="1700" b="1">
                <a:solidFill>
                  <a:srgbClr val="F26A1B"/>
                </a:solidFill>
                <a:latin typeface="Arial Black"/>
                <a:ea typeface="Microsoft YaHei"/>
              </a:rPr>
              <a:t>更高回报</a:t>
            </a:r>
            <a:r>
              <a:rPr sz="1700" b="1">
                <a:solidFill>
                  <a:srgbClr val="0B2A6B"/>
                </a:solidFill>
                <a:latin typeface="Arial Black"/>
                <a:ea typeface="Microsoft YaHei"/>
              </a:rPr>
              <a:t>的方向。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473952"/>
            <a:ext cx="9631375" cy="347472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700" b="1">
                <a:solidFill>
                  <a:srgbClr val="6B7280"/>
                </a:solidFill>
                <a:latin typeface="Arial"/>
                <a:ea typeface="Microsoft YaHei"/>
              </a:rPr>
              <a:t>Sources: </a:t>
            </a:r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Illustrative example only — not investment advice.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51415" y="6336792"/>
            <a:ext cx="2011680" cy="484632"/>
          </a:xfrm>
          <a:prstGeom prst="rect">
            <a:avLst/>
          </a:prstGeom>
          <a:noFill/>
        </p:spPr>
        <p:txBody>
          <a:bodyPr wrap="square" anchor="b" lIns="27432" rIns="27432" tIns="27432" bIns="27432"/>
          <a:lstStyle/>
          <a:p>
            <a:pPr algn="r"/>
            <a:r>
              <a:rPr sz="900" b="1">
                <a:solidFill>
                  <a:srgbClr val="0B2A6B"/>
                </a:solidFill>
                <a:latin typeface="Arial"/>
                <a:ea typeface="Microsoft YaHei"/>
              </a:rPr>
              <a:t>看趋势 · 把握方向</a:t>
            </a:r>
          </a:p>
          <a:p>
            <a:pPr algn="r"/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Confidential | For Internal Use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5303520"/>
            <a:ext cx="3840480" cy="2743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643055" cy="472439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2400" b="1">
                <a:solidFill>
                  <a:srgbClr val="0B2A6B"/>
                </a:solidFill>
                <a:latin typeface="Arial Black"/>
                <a:ea typeface="Microsoft YaHei"/>
              </a:rPr>
              <a:t>Country Opportunity: Different markets, </a:t>
            </a:r>
            <a:r>
              <a:rPr sz="2400" b="1">
                <a:solidFill>
                  <a:srgbClr val="F26A1B"/>
                </a:solidFill>
                <a:latin typeface="Arial Black"/>
                <a:ea typeface="Microsoft YaHei"/>
              </a:rPr>
              <a:t>big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7031"/>
            <a:ext cx="11643055" cy="310896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—— </a:t>
            </a: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Data center investment accelerating</a:t>
            </a:r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 ——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93036"/>
            <a:ext cx="2807893" cy="237744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31750">
            <a:solidFill>
              <a:srgbClr val="1565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79" y="2211324"/>
            <a:ext cx="2533573" cy="54864"/>
          </a:xfrm>
          <a:prstGeom prst="rect">
            <a:avLst/>
          </a:prstGeom>
          <a:solidFill>
            <a:srgbClr val="1565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79" y="2375916"/>
            <a:ext cx="384048" cy="384048"/>
          </a:xfrm>
          <a:prstGeom prst="ellipse">
            <a:avLst/>
          </a:prstGeom>
          <a:solidFill>
            <a:srgbClr val="1565E0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 Black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9340"/>
            <a:ext cx="2122093" cy="5486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1565E0"/>
                </a:solidFill>
                <a:latin typeface="Arial Black"/>
                <a:ea typeface="Microsoft YaHei"/>
              </a:rPr>
              <a:t>Malaysia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  <a:ea typeface="Microsoft YaHei"/>
              </a:rPr>
              <a:t>Johor DC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4556"/>
            <a:ext cx="2487853" cy="155448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0">
                <a:solidFill>
                  <a:srgbClr val="F26A1B"/>
                </a:solidFill>
                <a:latin typeface="Arial"/>
                <a:ea typeface="Microsoft YaHei"/>
              </a:rPr>
              <a:t>★★★★★</a:t>
            </a:r>
          </a:p>
          <a:p>
            <a:pPr algn="l"/>
            <a:r>
              <a:rPr sz="1000" b="1">
                <a:solidFill>
                  <a:srgbClr val="1565E0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Hyperscaler inflow</a:t>
            </a:r>
          </a:p>
          <a:p>
            <a:pPr algn="l"/>
            <a:r>
              <a:rPr sz="1000" b="1">
                <a:solidFill>
                  <a:srgbClr val="1565E0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DCI &amp; cloud backbone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9373" y="2193036"/>
            <a:ext cx="280789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6A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6533" y="2211324"/>
            <a:ext cx="2533573" cy="54864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56533" y="2375916"/>
            <a:ext cx="384048" cy="384048"/>
          </a:xfrm>
          <a:prstGeom prst="ellipse">
            <a:avLst/>
          </a:prstGeom>
          <a:solidFill>
            <a:srgbClr val="F26A1B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 Black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733" y="2339340"/>
            <a:ext cx="2122093" cy="5486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F26A1B"/>
                </a:solidFill>
                <a:latin typeface="Arial Black"/>
                <a:ea typeface="Microsoft YaHei"/>
              </a:rPr>
              <a:t>Singapore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  <a:ea typeface="Microsoft YaHei"/>
              </a:rPr>
              <a:t>Regional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2253" y="2924556"/>
            <a:ext cx="2487853" cy="155448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0">
                <a:solidFill>
                  <a:srgbClr val="F5A623"/>
                </a:solidFill>
                <a:latin typeface="Arial"/>
                <a:ea typeface="Microsoft YaHei"/>
              </a:rPr>
              <a:t>★★★★⯪</a:t>
            </a:r>
          </a:p>
          <a:p>
            <a:pPr algn="l"/>
            <a:r>
              <a:rPr sz="1000" b="1">
                <a:solidFill>
                  <a:srgbClr val="F26A1B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DCI &amp; peering</a:t>
            </a:r>
          </a:p>
          <a:p>
            <a:pPr algn="l"/>
            <a:r>
              <a:rPr sz="1000" b="1">
                <a:solidFill>
                  <a:srgbClr val="F26A1B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Cloud backbone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4427" y="2193036"/>
            <a:ext cx="280789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A2B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1587" y="2211324"/>
            <a:ext cx="2533573" cy="54864"/>
          </a:xfrm>
          <a:prstGeom prst="rect">
            <a:avLst/>
          </a:prstGeom>
          <a:solidFill>
            <a:srgbClr val="6A2B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1587" y="2375916"/>
            <a:ext cx="384048" cy="384048"/>
          </a:xfrm>
          <a:prstGeom prst="ellipse">
            <a:avLst/>
          </a:prstGeom>
          <a:solidFill>
            <a:srgbClr val="6A2BD9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 Black"/>
                <a:ea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8787" y="2339340"/>
            <a:ext cx="2122093" cy="5486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6A2BD9"/>
                </a:solidFill>
                <a:latin typeface="Arial Black"/>
                <a:ea typeface="Microsoft YaHei"/>
              </a:rPr>
              <a:t>Indonesia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  <a:ea typeface="Microsoft YaHei"/>
              </a:rPr>
              <a:t>Large population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924556"/>
            <a:ext cx="2487853" cy="155448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0">
                <a:solidFill>
                  <a:srgbClr val="F5A623"/>
                </a:solidFill>
                <a:latin typeface="Arial"/>
                <a:ea typeface="Microsoft YaHei"/>
              </a:rPr>
              <a:t>★★★★⯪</a:t>
            </a:r>
          </a:p>
          <a:p>
            <a:pPr algn="l"/>
            <a:r>
              <a:rPr sz="1000" b="1">
                <a:solidFill>
                  <a:srgbClr val="6A2BD9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5G &amp; broadband</a:t>
            </a:r>
          </a:p>
          <a:p>
            <a:pPr algn="l"/>
            <a:r>
              <a:rPr sz="1000" b="1">
                <a:solidFill>
                  <a:srgbClr val="6A2BD9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DC &amp; cloud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9481" y="2193036"/>
            <a:ext cx="280789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E8F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6641" y="2211324"/>
            <a:ext cx="2533573" cy="54864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6641" y="2375916"/>
            <a:ext cx="384048" cy="384048"/>
          </a:xfrm>
          <a:prstGeom prst="ellipse">
            <a:avLst/>
          </a:prstGeom>
          <a:solidFill>
            <a:srgbClr val="0E8F8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 Black"/>
                <a:ea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3841" y="2339340"/>
            <a:ext cx="2122093" cy="5486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0E8F8F"/>
                </a:solidFill>
                <a:latin typeface="Arial Black"/>
                <a:ea typeface="Microsoft YaHei"/>
              </a:rPr>
              <a:t>Taiwan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  <a:ea typeface="Microsoft YaHei"/>
              </a:rPr>
              <a:t>TANet upgrade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2361" y="2924556"/>
            <a:ext cx="2487853" cy="155448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0">
                <a:solidFill>
                  <a:srgbClr val="F5A623"/>
                </a:solidFill>
                <a:latin typeface="Arial"/>
                <a:ea typeface="Microsoft YaHei"/>
              </a:rPr>
              <a:t>★★★★⯪</a:t>
            </a:r>
          </a:p>
          <a:p>
            <a:pPr algn="l"/>
            <a:r>
              <a:rPr sz="1000" b="1">
                <a:solidFill>
                  <a:srgbClr val="0E8F8F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AI/HPC &amp; semiconductor</a:t>
            </a:r>
          </a:p>
          <a:p>
            <a:pPr algn="l"/>
            <a:r>
              <a:rPr sz="1000" b="1">
                <a:solidFill>
                  <a:srgbClr val="0E8F8F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High-end routers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753356"/>
            <a:ext cx="1164305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753356"/>
            <a:ext cx="457200" cy="42062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2000" b="1">
                <a:solidFill>
                  <a:srgbClr val="1565E0"/>
                </a:solidFill>
                <a:latin typeface="Arial"/>
                <a:ea typeface="Microsoft YaHei"/>
              </a:rPr>
              <a:t>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53356"/>
            <a:ext cx="10911535" cy="42062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700" b="1">
                <a:solidFill>
                  <a:srgbClr val="0B2A6B"/>
                </a:solidFill>
                <a:latin typeface="Arial Black"/>
                <a:ea typeface="Microsoft YaHei"/>
              </a:rPr>
              <a:t>IP Routing </a:t>
            </a:r>
            <a:r>
              <a:rPr sz="1700" b="1">
                <a:solidFill>
                  <a:srgbClr val="F26A1B"/>
                </a:solidFill>
                <a:latin typeface="Arial Black"/>
                <a:ea typeface="Microsoft YaHei"/>
              </a:rPr>
              <a:t>Connects Today.</a:t>
            </a:r>
            <a:r>
              <a:rPr sz="1700" b="1">
                <a:solidFill>
                  <a:srgbClr val="0B2A6B"/>
                </a:solidFill>
                <a:latin typeface="Arial Black"/>
                <a:ea typeface="Microsoft YaHei"/>
              </a:rPr>
              <a:t> AI Builds Tomorrow.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73952"/>
            <a:ext cx="9631375" cy="347472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700" b="1">
                <a:solidFill>
                  <a:srgbClr val="6B7280"/>
                </a:solidFill>
                <a:latin typeface="Arial"/>
                <a:ea typeface="Microsoft YaHei"/>
              </a:rPr>
              <a:t>Sources: </a:t>
            </a:r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IDC Worldwide Quarterly Router Tracker (illustrative).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1415" y="6336792"/>
            <a:ext cx="2011680" cy="484632"/>
          </a:xfrm>
          <a:prstGeom prst="rect">
            <a:avLst/>
          </a:prstGeom>
          <a:noFill/>
        </p:spPr>
        <p:txBody>
          <a:bodyPr wrap="square" anchor="b" lIns="27432" rIns="27432" tIns="27432" bIns="27432"/>
          <a:lstStyle/>
          <a:p>
            <a:pPr algn="r"/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Confidential | For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