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10637215"/>
            <a:ext cx="3840480" cy="2743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4572000" cy="408939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2000" b="1">
                <a:solidFill>
                  <a:srgbClr val="0B2A6B"/>
                </a:solidFill>
                <a:latin typeface="Arial Black"/>
                <a:ea typeface="Microsoft YaHei"/>
              </a:rPr>
              <a:t>AI的钱，正在从 </a:t>
            </a:r>
            <a:r>
              <a:rPr sz="2000" b="1">
                <a:solidFill>
                  <a:srgbClr val="F26A1B"/>
                </a:solidFill>
                <a:latin typeface="Arial Black"/>
                <a:ea typeface="Microsoft YaHei"/>
              </a:rPr>
              <a:t>NVDA</a:t>
            </a:r>
            <a:r>
              <a:rPr sz="2000" b="1">
                <a:solidFill>
                  <a:srgbClr val="0B2A6B"/>
                </a:solidFill>
                <a:latin typeface="Arial Black"/>
                <a:ea typeface="Microsoft YaHei"/>
              </a:rPr>
              <a:t> 流向哪里？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73531"/>
            <a:ext cx="4572000" cy="310896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  <a:ea typeface="Microsoft YaHei"/>
              </a:rPr>
              <a:t>—— </a:t>
            </a: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一张图看懂 AI 产业链资金扩散路径</a:t>
            </a:r>
            <a:r>
              <a:rPr sz="1200" b="0">
                <a:solidFill>
                  <a:srgbClr val="6B7280"/>
                </a:solidFill>
                <a:latin typeface="Arial"/>
                <a:ea typeface="Microsoft YaHei"/>
              </a:rPr>
              <a:t> ——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210311"/>
            <a:ext cx="1737360" cy="621792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5875">
            <a:solidFill>
              <a:srgbClr val="1565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0" y="228600"/>
            <a:ext cx="1645920" cy="585216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100" b="1">
                <a:solidFill>
                  <a:srgbClr val="1565E0"/>
                </a:solidFill>
                <a:latin typeface="Arial"/>
                <a:ea typeface="Microsoft YaHei"/>
              </a:rPr>
              <a:t>资金主线</a:t>
            </a:r>
          </a:p>
          <a:p>
            <a:pPr algn="ctr"/>
            <a:r>
              <a:rPr sz="800" b="0">
                <a:solidFill>
                  <a:srgbClr val="0B2A6B"/>
                </a:solidFill>
                <a:latin typeface="Arial"/>
                <a:ea typeface="Microsoft YaHei"/>
              </a:rPr>
              <a:t>HBM 存储 · 当前最强弹性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259332"/>
            <a:ext cx="5321808" cy="16360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1332484"/>
            <a:ext cx="502920" cy="502920"/>
          </a:xfrm>
          <a:prstGeom prst="ellipse">
            <a:avLst/>
          </a:prstGeom>
          <a:solidFill>
            <a:srgbClr val="1565E0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  <a:ea typeface="Microsoft YaHei"/>
              </a:rPr>
              <a:t>1</a:t>
            </a:r>
          </a:p>
        </p:txBody>
      </p:sp>
      <p:sp>
        <p:nvSpPr>
          <p:cNvPr id="9" name="Down Arrow 8"/>
          <p:cNvSpPr/>
          <p:nvPr/>
        </p:nvSpPr>
        <p:spPr>
          <a:xfrm>
            <a:off x="498348" y="1853691"/>
            <a:ext cx="237744" cy="950203"/>
          </a:xfrm>
          <a:prstGeom prst="downArrow">
            <a:avLst/>
          </a:prstGeom>
          <a:gradFill rotWithShape="1">
            <a:gsLst>
              <a:gs pos="0">
                <a:srgbClr val="EEF4FF"/>
              </a:gs>
              <a:gs pos="100000">
                <a:srgbClr val="1565E0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305052"/>
            <a:ext cx="1600200" cy="50927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700" b="1">
                <a:solidFill>
                  <a:srgbClr val="1565E0"/>
                </a:solidFill>
                <a:latin typeface="Arial Black"/>
                <a:ea typeface="Microsoft YaHei"/>
              </a:rPr>
              <a:t>核心算力</a:t>
            </a:r>
          </a:p>
          <a:p>
            <a:pPr algn="l"/>
            <a:r>
              <a:rPr sz="1000" b="1">
                <a:solidFill>
                  <a:srgbClr val="1565E0"/>
                </a:solidFill>
                <a:latin typeface="Arial"/>
                <a:ea typeface="Microsoft YaHei"/>
              </a:rPr>
              <a:t>(已爆)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" y="1796034"/>
            <a:ext cx="736600" cy="192024"/>
          </a:xfrm>
          <a:prstGeom prst="roundRect">
            <a:avLst>
              <a:gd name="adj" fmla="val 50000"/>
            </a:avLst>
          </a:prstGeom>
          <a:solidFill>
            <a:srgbClr val="1565E0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Microsoft YaHei"/>
              </a:rPr>
              <a:t>已充分定价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033778"/>
            <a:ext cx="1600200" cy="834125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50" b="1">
                <a:solidFill>
                  <a:srgbClr val="1565E0"/>
                </a:solidFill>
                <a:latin typeface="Arial"/>
                <a:ea typeface="Microsoft YaHei"/>
              </a:rPr>
              <a:t>✓ </a:t>
            </a:r>
            <a:r>
              <a:rPr sz="850" b="0">
                <a:solidFill>
                  <a:srgbClr val="1F2A44"/>
                </a:solidFill>
                <a:latin typeface="Arial"/>
                <a:ea typeface="Microsoft YaHei"/>
              </a:rPr>
              <a:t>高壁垒 · 高确定性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0048" y="1314196"/>
            <a:ext cx="1554479" cy="1526275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1565E0"/>
                </a:solidFill>
                <a:latin typeface="Arial"/>
                <a:ea typeface="Microsoft YaHei"/>
              </a:rPr>
              <a:t>代表公司</a:t>
            </a:r>
          </a:p>
          <a:p>
            <a:pPr algn="l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NVIDIA (NVDA)</a:t>
            </a:r>
          </a:p>
          <a:p>
            <a:pPr algn="l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AMD (AMD)</a:t>
            </a:r>
          </a:p>
          <a:p>
            <a:pPr algn="l"/>
            <a:r>
              <a:rPr sz="1100" b="1">
                <a:solidFill>
                  <a:srgbClr val="1565E0"/>
                </a:solidFill>
                <a:latin typeface="Arial"/>
                <a:ea typeface="Microsoft YaHei"/>
              </a:rPr>
              <a:t>资金逻辑</a:t>
            </a:r>
          </a:p>
          <a:p>
            <a:pPr algn="l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AI 浪潮起点</a:t>
            </a:r>
          </a:p>
          <a:p>
            <a:pPr algn="l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估值已高位</a:t>
            </a:r>
          </a:p>
          <a:p>
            <a:pPr algn="l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业绩高增持续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332484"/>
            <a:ext cx="1188720" cy="1489699"/>
          </a:xfrm>
          <a:prstGeom prst="roundRect">
            <a:avLst>
              <a:gd name="adj" fmla="val 10000"/>
            </a:avLst>
          </a:prstGeom>
          <a:solidFill>
            <a:srgbClr val="EEF4FF"/>
          </a:solidFill>
          <a:ln w="12700">
            <a:solidFill>
              <a:srgbClr val="1565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52544" y="1350772"/>
            <a:ext cx="1115568" cy="1453123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000" b="1">
                <a:solidFill>
                  <a:srgbClr val="1565E0"/>
                </a:solidFill>
                <a:latin typeface="Arial"/>
                <a:ea typeface="Microsoft YaHei"/>
              </a:rPr>
              <a:t>优先级</a:t>
            </a:r>
          </a:p>
          <a:p>
            <a:pPr algn="ctr"/>
            <a:r>
              <a:rPr sz="1500" b="0">
                <a:solidFill>
                  <a:srgbClr val="1565E0"/>
                </a:solidFill>
                <a:latin typeface="Arial"/>
                <a:ea typeface="Microsoft YaHei"/>
              </a:rPr>
              <a:t>★★★☆☆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基本面优秀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弹性有限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2986775"/>
            <a:ext cx="5321808" cy="1636003"/>
          </a:xfrm>
          <a:prstGeom prst="roundRect">
            <a:avLst>
              <a:gd name="adj" fmla="val 8000"/>
            </a:avLst>
          </a:prstGeom>
          <a:solidFill>
            <a:srgbClr val="FFF4EC"/>
          </a:solidFill>
          <a:ln w="31750">
            <a:solidFill>
              <a:srgbClr val="F26A1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65760" y="3059927"/>
            <a:ext cx="502920" cy="502920"/>
          </a:xfrm>
          <a:prstGeom prst="ellipse">
            <a:avLst/>
          </a:prstGeom>
          <a:solidFill>
            <a:srgbClr val="F26A1B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  <a:ea typeface="Microsoft YaHei"/>
              </a:rPr>
              <a:t>2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98348" y="3581135"/>
            <a:ext cx="237744" cy="950203"/>
          </a:xfrm>
          <a:prstGeom prst="downArrow">
            <a:avLst/>
          </a:prstGeom>
          <a:gradFill rotWithShape="1">
            <a:gsLst>
              <a:gs pos="0">
                <a:srgbClr val="FFF4EC"/>
              </a:gs>
              <a:gs pos="100000">
                <a:srgbClr val="F26A1B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032495"/>
            <a:ext cx="1600200" cy="50927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700" b="1">
                <a:solidFill>
                  <a:srgbClr val="F26A1B"/>
                </a:solidFill>
                <a:latin typeface="Arial Black"/>
                <a:ea typeface="Microsoft YaHei"/>
              </a:rPr>
              <a:t>存储</a:t>
            </a:r>
          </a:p>
          <a:p>
            <a:pPr algn="l"/>
            <a:r>
              <a:rPr sz="1000" b="1">
                <a:solidFill>
                  <a:srgbClr val="F26A1B"/>
                </a:solidFill>
                <a:latin typeface="Arial"/>
                <a:ea typeface="Microsoft YaHei"/>
              </a:rPr>
              <a:t>(正在爆)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6696" y="3523477"/>
            <a:ext cx="752855" cy="192024"/>
          </a:xfrm>
          <a:prstGeom prst="roundRect">
            <a:avLst>
              <a:gd name="adj" fmla="val 50000"/>
            </a:avLst>
          </a:prstGeom>
          <a:solidFill>
            <a:srgbClr val="F26A1B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Microsoft YaHei"/>
              </a:rPr>
              <a:t>α 最强阶段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3761221"/>
            <a:ext cx="1600200" cy="834125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50" b="1">
                <a:solidFill>
                  <a:srgbClr val="F26A1B"/>
                </a:solidFill>
                <a:latin typeface="Arial"/>
                <a:ea typeface="Microsoft YaHei"/>
              </a:rPr>
              <a:t>✓ </a:t>
            </a:r>
            <a:r>
              <a:rPr sz="850" b="0">
                <a:solidFill>
                  <a:srgbClr val="1F2A44"/>
                </a:solidFill>
                <a:latin typeface="Arial"/>
                <a:ea typeface="Microsoft YaHei"/>
              </a:rPr>
              <a:t>供需错配最严重</a:t>
            </a:r>
          </a:p>
          <a:p>
            <a:pPr algn="l"/>
            <a:r>
              <a:rPr sz="850" b="1">
                <a:solidFill>
                  <a:srgbClr val="F26A1B"/>
                </a:solidFill>
                <a:latin typeface="Arial"/>
                <a:ea typeface="Microsoft YaHei"/>
              </a:rPr>
              <a:t>✓ </a:t>
            </a:r>
            <a:r>
              <a:rPr sz="850" b="0">
                <a:solidFill>
                  <a:srgbClr val="1F2A44"/>
                </a:solidFill>
                <a:latin typeface="Arial"/>
                <a:ea typeface="Microsoft YaHei"/>
              </a:rPr>
              <a:t>资金正在大幅流入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70048" y="3041639"/>
            <a:ext cx="1554479" cy="1526275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F26A1B"/>
                </a:solidFill>
                <a:latin typeface="Arial"/>
                <a:ea typeface="Microsoft YaHei"/>
              </a:rPr>
              <a:t>代表公司</a:t>
            </a:r>
          </a:p>
          <a:p>
            <a:pPr algn="l"/>
            <a:r>
              <a:rPr sz="900" b="1">
                <a:solidFill>
                  <a:srgbClr val="F26A1B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Micron (MU)</a:t>
            </a:r>
          </a:p>
          <a:p>
            <a:pPr algn="l"/>
            <a:r>
              <a:rPr sz="1100" b="1">
                <a:solidFill>
                  <a:srgbClr val="F26A1B"/>
                </a:solidFill>
                <a:latin typeface="Arial"/>
                <a:ea typeface="Microsoft YaHei"/>
              </a:rPr>
              <a:t>资金逻辑</a:t>
            </a:r>
          </a:p>
          <a:p>
            <a:pPr algn="l"/>
            <a:r>
              <a:rPr sz="900" b="1">
                <a:solidFill>
                  <a:srgbClr val="F26A1B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HBM 需求爆发</a:t>
            </a:r>
          </a:p>
          <a:p>
            <a:pPr algn="l"/>
            <a:r>
              <a:rPr sz="900" b="1">
                <a:solidFill>
                  <a:srgbClr val="F26A1B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价格与量利双升</a:t>
            </a:r>
          </a:p>
          <a:p>
            <a:pPr algn="l"/>
            <a:r>
              <a:rPr sz="900" b="1">
                <a:solidFill>
                  <a:srgbClr val="F26A1B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厂商受益最直接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15968" y="3059927"/>
            <a:ext cx="1188720" cy="148969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6A1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078215"/>
            <a:ext cx="1115568" cy="1453123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000" b="1">
                <a:solidFill>
                  <a:srgbClr val="F26A1B"/>
                </a:solidFill>
                <a:latin typeface="Arial"/>
                <a:ea typeface="Microsoft YaHei"/>
              </a:rPr>
              <a:t>优先级</a:t>
            </a:r>
          </a:p>
          <a:p>
            <a:pPr algn="ctr"/>
            <a:r>
              <a:rPr sz="1500" b="0">
                <a:solidFill>
                  <a:srgbClr val="F26A1B"/>
                </a:solidFill>
                <a:latin typeface="Arial"/>
                <a:ea typeface="Microsoft YaHei"/>
              </a:rPr>
              <a:t>★★★★★</a:t>
            </a:r>
          </a:p>
          <a:p>
            <a:pPr algn="ctr"/>
            <a:r>
              <a:rPr sz="850" b="1">
                <a:solidFill>
                  <a:srgbClr val="F26A1B"/>
                </a:solidFill>
                <a:latin typeface="Arial"/>
                <a:ea typeface="Microsoft YaHei"/>
              </a:rPr>
              <a:t>当前最强弹性</a:t>
            </a:r>
          </a:p>
          <a:p>
            <a:pPr algn="ctr"/>
            <a:r>
              <a:rPr sz="850" b="1">
                <a:solidFill>
                  <a:srgbClr val="F26A1B"/>
                </a:solidFill>
                <a:latin typeface="Arial"/>
                <a:ea typeface="Microsoft YaHei"/>
              </a:rPr>
              <a:t>主线机会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714219"/>
            <a:ext cx="5321808" cy="16360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65760" y="4787371"/>
            <a:ext cx="502920" cy="502920"/>
          </a:xfrm>
          <a:prstGeom prst="ellipse">
            <a:avLst/>
          </a:prstGeom>
          <a:solidFill>
            <a:srgbClr val="6A2BD9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  <a:ea typeface="Microsoft YaHei"/>
              </a:rPr>
              <a:t>3</a:t>
            </a:r>
          </a:p>
        </p:txBody>
      </p:sp>
      <p:sp>
        <p:nvSpPr>
          <p:cNvPr id="27" name="Down Arrow 26"/>
          <p:cNvSpPr/>
          <p:nvPr/>
        </p:nvSpPr>
        <p:spPr>
          <a:xfrm>
            <a:off x="498348" y="5308579"/>
            <a:ext cx="237744" cy="950203"/>
          </a:xfrm>
          <a:prstGeom prst="downArrow">
            <a:avLst/>
          </a:prstGeom>
          <a:gradFill rotWithShape="1">
            <a:gsLst>
              <a:gs pos="0">
                <a:srgbClr val="F4EFFF"/>
              </a:gs>
              <a:gs pos="100000">
                <a:srgbClr val="6A2BD9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" y="4759939"/>
            <a:ext cx="1600200" cy="50927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700" b="1">
                <a:solidFill>
                  <a:srgbClr val="6A2BD9"/>
                </a:solidFill>
                <a:latin typeface="Arial Black"/>
                <a:ea typeface="Microsoft YaHei"/>
              </a:rPr>
              <a:t>光通信</a:t>
            </a:r>
          </a:p>
          <a:p>
            <a:pPr algn="l"/>
            <a:r>
              <a:rPr sz="1000" b="1">
                <a:solidFill>
                  <a:srgbClr val="6A2BD9"/>
                </a:solidFill>
                <a:latin typeface="Arial"/>
                <a:ea typeface="Microsoft YaHei"/>
              </a:rPr>
              <a:t>(刚启动)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6696" y="5250921"/>
            <a:ext cx="1116584" cy="192024"/>
          </a:xfrm>
          <a:prstGeom prst="roundRect">
            <a:avLst>
              <a:gd name="adj" fmla="val 50000"/>
            </a:avLst>
          </a:prstGeom>
          <a:solidFill>
            <a:srgbClr val="6A2BD9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Microsoft YaHei"/>
              </a:rPr>
              <a:t>高成长 · 早期爆发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" y="5488665"/>
            <a:ext cx="1600200" cy="834125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50" b="1">
                <a:solidFill>
                  <a:srgbClr val="6A2BD9"/>
                </a:solidFill>
                <a:latin typeface="Arial"/>
                <a:ea typeface="Microsoft YaHei"/>
              </a:rPr>
              <a:t>✓ </a:t>
            </a:r>
            <a:r>
              <a:rPr sz="850" b="0">
                <a:solidFill>
                  <a:srgbClr val="1F2A44"/>
                </a:solidFill>
                <a:latin typeface="Arial"/>
                <a:ea typeface="Microsoft YaHei"/>
              </a:rPr>
              <a:t>带宽需求激增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70048" y="4769083"/>
            <a:ext cx="1554479" cy="1526275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6A2BD9"/>
                </a:solidFill>
                <a:latin typeface="Arial"/>
                <a:ea typeface="Microsoft YaHei"/>
              </a:rPr>
              <a:t>代表公司</a:t>
            </a:r>
          </a:p>
          <a:p>
            <a:pPr algn="l"/>
            <a:r>
              <a:rPr sz="900" b="1">
                <a:solidFill>
                  <a:srgbClr val="6A2BD9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Coherent (COHR)</a:t>
            </a:r>
          </a:p>
          <a:p>
            <a:pPr algn="l"/>
            <a:r>
              <a:rPr sz="900" b="1">
                <a:solidFill>
                  <a:srgbClr val="6A2BD9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Fabrinet (FN)</a:t>
            </a:r>
          </a:p>
          <a:p>
            <a:pPr algn="l"/>
            <a:r>
              <a:rPr sz="1100" b="1">
                <a:solidFill>
                  <a:srgbClr val="6A2BD9"/>
                </a:solidFill>
                <a:latin typeface="Arial"/>
                <a:ea typeface="Microsoft YaHei"/>
              </a:rPr>
              <a:t>资金逻辑</a:t>
            </a:r>
          </a:p>
          <a:p>
            <a:pPr algn="l"/>
            <a:r>
              <a:rPr sz="900" b="1">
                <a:solidFill>
                  <a:srgbClr val="6A2BD9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数据量爆炸</a:t>
            </a:r>
          </a:p>
          <a:p>
            <a:pPr algn="l"/>
            <a:r>
              <a:rPr sz="900" b="1">
                <a:solidFill>
                  <a:srgbClr val="6A2BD9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光模块迎来放量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4787371"/>
            <a:ext cx="1188720" cy="1489699"/>
          </a:xfrm>
          <a:prstGeom prst="roundRect">
            <a:avLst>
              <a:gd name="adj" fmla="val 10000"/>
            </a:avLst>
          </a:prstGeom>
          <a:solidFill>
            <a:srgbClr val="F4EFFF"/>
          </a:solidFill>
          <a:ln w="12700">
            <a:solidFill>
              <a:srgbClr val="6A2B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52544" y="4805659"/>
            <a:ext cx="1115568" cy="1453123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000" b="1">
                <a:solidFill>
                  <a:srgbClr val="6A2BD9"/>
                </a:solidFill>
                <a:latin typeface="Arial"/>
                <a:ea typeface="Microsoft YaHei"/>
              </a:rPr>
              <a:t>优先级</a:t>
            </a:r>
          </a:p>
          <a:p>
            <a:pPr algn="ctr"/>
            <a:r>
              <a:rPr sz="1500" b="0">
                <a:solidFill>
                  <a:srgbClr val="6A2BD9"/>
                </a:solidFill>
                <a:latin typeface="Arial"/>
                <a:ea typeface="Microsoft YaHei"/>
              </a:rPr>
              <a:t>★★★★☆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尚未完全定价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空间巨大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4320" y="6441663"/>
            <a:ext cx="5321808" cy="16360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65760" y="6514815"/>
            <a:ext cx="502920" cy="502920"/>
          </a:xfrm>
          <a:prstGeom prst="ellipse">
            <a:avLst/>
          </a:prstGeom>
          <a:solidFill>
            <a:srgbClr val="0E8F8F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  <a:ea typeface="Microsoft YaHei"/>
              </a:rPr>
              <a:t>4</a:t>
            </a:r>
          </a:p>
        </p:txBody>
      </p:sp>
      <p:sp>
        <p:nvSpPr>
          <p:cNvPr id="36" name="Down Arrow 35"/>
          <p:cNvSpPr/>
          <p:nvPr/>
        </p:nvSpPr>
        <p:spPr>
          <a:xfrm>
            <a:off x="498348" y="7036023"/>
            <a:ext cx="237744" cy="950203"/>
          </a:xfrm>
          <a:prstGeom prst="downArrow">
            <a:avLst/>
          </a:prstGeom>
          <a:gradFill rotWithShape="1">
            <a:gsLst>
              <a:gs pos="0">
                <a:srgbClr val="EAF7F6"/>
              </a:gs>
              <a:gs pos="100000">
                <a:srgbClr val="0E8F8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6487383"/>
            <a:ext cx="1600200" cy="50927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700" b="1">
                <a:solidFill>
                  <a:srgbClr val="0E8F8F"/>
                </a:solidFill>
                <a:latin typeface="Arial Black"/>
                <a:ea typeface="Microsoft YaHei"/>
              </a:rPr>
              <a:t>数据中心</a:t>
            </a:r>
          </a:p>
          <a:p>
            <a:pPr algn="l"/>
            <a:r>
              <a:rPr sz="1000" b="1">
                <a:solidFill>
                  <a:srgbClr val="0E8F8F"/>
                </a:solidFill>
                <a:latin typeface="Arial"/>
                <a:ea typeface="Microsoft YaHei"/>
              </a:rPr>
              <a:t>(扩散中)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6696" y="6978365"/>
            <a:ext cx="635000" cy="192024"/>
          </a:xfrm>
          <a:prstGeom prst="roundRect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Microsoft YaHei"/>
              </a:rPr>
              <a:t>稳定受益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" y="7216109"/>
            <a:ext cx="1600200" cy="834125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50" b="1">
                <a:solidFill>
                  <a:srgbClr val="0E8F8F"/>
                </a:solidFill>
                <a:latin typeface="Arial"/>
                <a:ea typeface="Microsoft YaHei"/>
              </a:rPr>
              <a:t>✓ </a:t>
            </a:r>
            <a:r>
              <a:rPr sz="850" b="0">
                <a:solidFill>
                  <a:srgbClr val="1F2A44"/>
                </a:solidFill>
                <a:latin typeface="Arial"/>
                <a:ea typeface="Microsoft YaHei"/>
              </a:rPr>
              <a:t>长期需求旺盛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70048" y="6496527"/>
            <a:ext cx="1554479" cy="1526275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0E8F8F"/>
                </a:solidFill>
                <a:latin typeface="Arial"/>
                <a:ea typeface="Microsoft YaHei"/>
              </a:rPr>
              <a:t>代表公司</a:t>
            </a:r>
          </a:p>
          <a:p>
            <a:pPr algn="l"/>
            <a:r>
              <a:rPr sz="900" b="1">
                <a:solidFill>
                  <a:srgbClr val="0E8F8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Digital Realty (DLR)</a:t>
            </a:r>
          </a:p>
          <a:p>
            <a:pPr algn="l"/>
            <a:r>
              <a:rPr sz="1100" b="1">
                <a:solidFill>
                  <a:srgbClr val="0E8F8F"/>
                </a:solidFill>
                <a:latin typeface="Arial"/>
                <a:ea typeface="Microsoft YaHei"/>
              </a:rPr>
              <a:t>资金逻辑</a:t>
            </a:r>
          </a:p>
          <a:p>
            <a:pPr algn="l"/>
            <a:r>
              <a:rPr sz="900" b="1">
                <a:solidFill>
                  <a:srgbClr val="0E8F8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AI 算力的载体</a:t>
            </a:r>
          </a:p>
          <a:p>
            <a:pPr algn="l"/>
            <a:r>
              <a:rPr sz="900" b="1">
                <a:solidFill>
                  <a:srgbClr val="0E8F8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REITs 估值优势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15968" y="6514815"/>
            <a:ext cx="1188720" cy="1489699"/>
          </a:xfrm>
          <a:prstGeom prst="roundRect">
            <a:avLst>
              <a:gd name="adj" fmla="val 10000"/>
            </a:avLst>
          </a:prstGeom>
          <a:solidFill>
            <a:srgbClr val="EAF7F6"/>
          </a:solidFill>
          <a:ln w="12700">
            <a:solidFill>
              <a:srgbClr val="0E8F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2544" y="6533103"/>
            <a:ext cx="1115568" cy="1453123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000" b="1">
                <a:solidFill>
                  <a:srgbClr val="0E8F8F"/>
                </a:solidFill>
                <a:latin typeface="Arial"/>
                <a:ea typeface="Microsoft YaHei"/>
              </a:rPr>
              <a:t>优先级</a:t>
            </a:r>
          </a:p>
          <a:p>
            <a:pPr algn="ctr"/>
            <a:r>
              <a:rPr sz="1500" b="0">
                <a:solidFill>
                  <a:srgbClr val="0E8F8F"/>
                </a:solidFill>
                <a:latin typeface="Arial"/>
                <a:ea typeface="Microsoft YaHei"/>
              </a:rPr>
              <a:t>★★★☆☆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稳健受益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资金稳步流入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4320" y="8169107"/>
            <a:ext cx="5321808" cy="163600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65760" y="8242259"/>
            <a:ext cx="502920" cy="502920"/>
          </a:xfrm>
          <a:prstGeom prst="ellipse">
            <a:avLst/>
          </a:prstGeom>
          <a:solidFill>
            <a:srgbClr val="3E9B2F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Arial Black"/>
                <a:ea typeface="Microsoft YaHei"/>
              </a:rPr>
              <a:t>5</a:t>
            </a:r>
          </a:p>
        </p:txBody>
      </p:sp>
      <p:sp>
        <p:nvSpPr>
          <p:cNvPr id="45" name="Down Arrow 44"/>
          <p:cNvSpPr/>
          <p:nvPr/>
        </p:nvSpPr>
        <p:spPr>
          <a:xfrm>
            <a:off x="498348" y="8763467"/>
            <a:ext cx="237744" cy="950203"/>
          </a:xfrm>
          <a:prstGeom prst="downArrow">
            <a:avLst/>
          </a:prstGeom>
          <a:gradFill rotWithShape="1">
            <a:gsLst>
              <a:gs pos="0">
                <a:srgbClr val="EFF8EC"/>
              </a:gs>
              <a:gs pos="100000">
                <a:srgbClr val="3E9B2F"/>
              </a:gs>
            </a:gsLst>
            <a:lin scaled="0" ang="16200000"/>
          </a:gra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8408" y="8214827"/>
            <a:ext cx="1600200" cy="50927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700" b="1">
                <a:solidFill>
                  <a:srgbClr val="3E9B2F"/>
                </a:solidFill>
                <a:latin typeface="Arial Black"/>
                <a:ea typeface="Microsoft YaHei"/>
              </a:rPr>
              <a:t>能源</a:t>
            </a:r>
          </a:p>
          <a:p>
            <a:pPr algn="l"/>
            <a:r>
              <a:rPr sz="1000" b="1">
                <a:solidFill>
                  <a:srgbClr val="3E9B2F"/>
                </a:solidFill>
                <a:latin typeface="Arial"/>
                <a:ea typeface="Microsoft YaHei"/>
              </a:rPr>
              <a:t>(下一站)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96696" y="8705809"/>
            <a:ext cx="1116584" cy="192024"/>
          </a:xfrm>
          <a:prstGeom prst="roundRect">
            <a:avLst>
              <a:gd name="adj" fmla="val 50000"/>
            </a:avLst>
          </a:prstGeom>
          <a:solidFill>
            <a:srgbClr val="3E9B2F"/>
          </a:solidFill>
          <a:ln>
            <a:noFill/>
          </a:ln>
          <a:effectLst/>
        </p:spPr>
        <p:txBody>
          <a:bodyPr rtlCol="0" anchor="ctr" lIns="18288" rIns="18288" tIns="18288" bIns="18288" wrap="none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  <a:ea typeface="Microsoft YaHei"/>
              </a:rPr>
              <a:t>长周期 · 终极受益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78408" y="8943553"/>
            <a:ext cx="1600200" cy="834125"/>
          </a:xfrm>
          <a:prstGeom prst="rect">
            <a:avLst/>
          </a:prstGeom>
          <a:noFill/>
        </p:spPr>
        <p:txBody>
          <a:bodyPr wrap="square" anchor="t" lIns="18288" rIns="18288" tIns="18288" bIns="18288"/>
          <a:lstStyle/>
          <a:p>
            <a:pPr algn="l"/>
            <a:r>
              <a:rPr sz="850" b="1">
                <a:solidFill>
                  <a:srgbClr val="3E9B2F"/>
                </a:solidFill>
                <a:latin typeface="Arial"/>
                <a:ea typeface="Microsoft YaHei"/>
              </a:rPr>
              <a:t>✓ </a:t>
            </a:r>
            <a:r>
              <a:rPr sz="850" b="0">
                <a:solidFill>
                  <a:srgbClr val="1F2A44"/>
                </a:solidFill>
                <a:latin typeface="Arial"/>
                <a:ea typeface="Microsoft YaHei"/>
              </a:rPr>
              <a:t>电力需求长期增大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70048" y="8223971"/>
            <a:ext cx="1554479" cy="1526275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100" b="1">
                <a:solidFill>
                  <a:srgbClr val="3E9B2F"/>
                </a:solidFill>
                <a:latin typeface="Arial"/>
                <a:ea typeface="Microsoft YaHei"/>
              </a:rPr>
              <a:t>代表公司</a:t>
            </a:r>
          </a:p>
          <a:p>
            <a:pPr algn="l"/>
            <a:r>
              <a:rPr sz="900" b="1">
                <a:solidFill>
                  <a:srgbClr val="3E9B2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Vistra (VST)</a:t>
            </a:r>
          </a:p>
          <a:p>
            <a:pPr algn="l"/>
            <a:r>
              <a:rPr sz="900" b="1">
                <a:solidFill>
                  <a:srgbClr val="3E9B2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Constellation (CEG)</a:t>
            </a:r>
          </a:p>
          <a:p>
            <a:pPr algn="l"/>
            <a:r>
              <a:rPr sz="1100" b="1">
                <a:solidFill>
                  <a:srgbClr val="3E9B2F"/>
                </a:solidFill>
                <a:latin typeface="Arial"/>
                <a:ea typeface="Microsoft YaHei"/>
              </a:rPr>
              <a:t>资金逻辑</a:t>
            </a:r>
          </a:p>
          <a:p>
            <a:pPr algn="l"/>
            <a:r>
              <a:rPr sz="900" b="1">
                <a:solidFill>
                  <a:srgbClr val="3E9B2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电力缺口扩大</a:t>
            </a:r>
          </a:p>
          <a:p>
            <a:pPr algn="l"/>
            <a:r>
              <a:rPr sz="900" b="1">
                <a:solidFill>
                  <a:srgbClr val="3E9B2F"/>
                </a:solidFill>
                <a:latin typeface="Arial"/>
                <a:ea typeface="Microsoft YaHei"/>
              </a:rPr>
              <a:t>▸ </a:t>
            </a:r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政策支持明确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15968" y="8242259"/>
            <a:ext cx="1188720" cy="1489699"/>
          </a:xfrm>
          <a:prstGeom prst="roundRect">
            <a:avLst>
              <a:gd name="adj" fmla="val 10000"/>
            </a:avLst>
          </a:prstGeom>
          <a:solidFill>
            <a:srgbClr val="EFF8EC"/>
          </a:solidFill>
          <a:ln w="12700">
            <a:solidFill>
              <a:srgbClr val="3E9B2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52544" y="8260547"/>
            <a:ext cx="1115568" cy="1453123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000" b="1">
                <a:solidFill>
                  <a:srgbClr val="3E9B2F"/>
                </a:solidFill>
                <a:latin typeface="Arial"/>
                <a:ea typeface="Microsoft YaHei"/>
              </a:rPr>
              <a:t>优先级</a:t>
            </a:r>
          </a:p>
          <a:p>
            <a:pPr algn="ctr"/>
            <a:r>
              <a:rPr sz="1500" b="0">
                <a:solidFill>
                  <a:srgbClr val="3E9B2F"/>
                </a:solidFill>
                <a:latin typeface="Arial"/>
                <a:ea typeface="Microsoft YaHei"/>
              </a:rPr>
              <a:t>★★☆☆☆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长周期价值</a:t>
            </a:r>
          </a:p>
          <a:p>
            <a:pPr algn="ctr"/>
            <a:r>
              <a:rPr sz="850" b="1">
                <a:solidFill>
                  <a:srgbClr val="1F2A44"/>
                </a:solidFill>
                <a:latin typeface="Arial"/>
                <a:ea typeface="Microsoft YaHei"/>
              </a:rPr>
              <a:t>最后受益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77840" y="985011"/>
            <a:ext cx="1051560" cy="256032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1000" b="1">
                <a:solidFill>
                  <a:srgbClr val="0B2A6B"/>
                </a:solidFill>
                <a:latin typeface="Arial"/>
                <a:ea typeface="Microsoft YaHei"/>
              </a:rPr>
              <a:t>资金扩散顺序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103620" y="1259332"/>
            <a:ext cx="0" cy="8545779"/>
          </a:xfrm>
          <a:prstGeom prst="line">
            <a:avLst/>
          </a:prstGeom>
          <a:ln w="15875">
            <a:solidFill>
              <a:srgbClr val="9AA8C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948172" y="1766437"/>
            <a:ext cx="310896" cy="310896"/>
          </a:xfrm>
          <a:prstGeom prst="ellipse">
            <a:avLst/>
          </a:prstGeom>
          <a:solidFill>
            <a:srgbClr val="1565E0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/>
                <a:ea typeface="Microsoft YaHe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2095621"/>
            <a:ext cx="868680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900" b="1">
                <a:solidFill>
                  <a:srgbClr val="1565E0"/>
                </a:solidFill>
                <a:latin typeface="Arial"/>
                <a:ea typeface="Microsoft YaHei"/>
              </a:rPr>
              <a:t>已爆发</a:t>
            </a:r>
          </a:p>
        </p:txBody>
      </p:sp>
      <p:sp>
        <p:nvSpPr>
          <p:cNvPr id="56" name="Isosceles Triangle 55"/>
          <p:cNvSpPr/>
          <p:nvPr/>
        </p:nvSpPr>
        <p:spPr>
          <a:xfrm rot="10800000">
            <a:off x="6048756" y="2913623"/>
            <a:ext cx="109728" cy="82296"/>
          </a:xfrm>
          <a:prstGeom prst="triangle">
            <a:avLst/>
          </a:prstGeom>
          <a:solidFill>
            <a:srgbClr val="F26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48172" y="3475593"/>
            <a:ext cx="310896" cy="310896"/>
          </a:xfrm>
          <a:prstGeom prst="ellipse">
            <a:avLst/>
          </a:prstGeom>
          <a:solidFill>
            <a:srgbClr val="F26A1B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/>
                <a:ea typeface="Microsoft YaHei"/>
              </a:rPr>
              <a:t>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669280" y="3804777"/>
            <a:ext cx="868680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900" b="1">
                <a:solidFill>
                  <a:srgbClr val="F26A1B"/>
                </a:solidFill>
                <a:latin typeface="Arial"/>
                <a:ea typeface="Microsoft YaHei"/>
              </a:rPr>
              <a:t>主升浪</a:t>
            </a:r>
          </a:p>
        </p:txBody>
      </p:sp>
      <p:sp>
        <p:nvSpPr>
          <p:cNvPr id="59" name="Isosceles Triangle 58"/>
          <p:cNvSpPr/>
          <p:nvPr/>
        </p:nvSpPr>
        <p:spPr>
          <a:xfrm rot="10800000">
            <a:off x="6048756" y="4622779"/>
            <a:ext cx="109728" cy="82296"/>
          </a:xfrm>
          <a:prstGeom prst="triangle">
            <a:avLst/>
          </a:prstGeom>
          <a:solidFill>
            <a:srgbClr val="6A2B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48172" y="5184749"/>
            <a:ext cx="310896" cy="310896"/>
          </a:xfrm>
          <a:prstGeom prst="ellipse">
            <a:avLst/>
          </a:prstGeom>
          <a:solidFill>
            <a:srgbClr val="6A2BD9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/>
                <a:ea typeface="Microsoft YaHei"/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0" y="5513933"/>
            <a:ext cx="868680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900" b="1">
                <a:solidFill>
                  <a:srgbClr val="6A2BD9"/>
                </a:solidFill>
                <a:latin typeface="Arial"/>
                <a:ea typeface="Microsoft YaHei"/>
              </a:rPr>
              <a:t>加速前夜</a:t>
            </a:r>
          </a:p>
        </p:txBody>
      </p:sp>
      <p:sp>
        <p:nvSpPr>
          <p:cNvPr id="62" name="Isosceles Triangle 61"/>
          <p:cNvSpPr/>
          <p:nvPr/>
        </p:nvSpPr>
        <p:spPr>
          <a:xfrm rot="10800000">
            <a:off x="6048756" y="6331935"/>
            <a:ext cx="109728" cy="82296"/>
          </a:xfrm>
          <a:prstGeom prst="triangle">
            <a:avLst/>
          </a:prstGeom>
          <a:solidFill>
            <a:srgbClr val="0E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948172" y="6893905"/>
            <a:ext cx="310896" cy="310896"/>
          </a:xfrm>
          <a:prstGeom prst="ellipse">
            <a:avLst/>
          </a:prstGeom>
          <a:solidFill>
            <a:srgbClr val="0E8F8F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/>
                <a:ea typeface="Microsoft YaHei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80" y="7223089"/>
            <a:ext cx="868680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900" b="1">
                <a:solidFill>
                  <a:srgbClr val="0E8F8F"/>
                </a:solidFill>
                <a:latin typeface="Arial"/>
                <a:ea typeface="Microsoft YaHei"/>
              </a:rPr>
              <a:t>稳步扩散</a:t>
            </a:r>
          </a:p>
        </p:txBody>
      </p:sp>
      <p:sp>
        <p:nvSpPr>
          <p:cNvPr id="65" name="Isosceles Triangle 64"/>
          <p:cNvSpPr/>
          <p:nvPr/>
        </p:nvSpPr>
        <p:spPr>
          <a:xfrm rot="10800000">
            <a:off x="6048756" y="8041091"/>
            <a:ext cx="109728" cy="82296"/>
          </a:xfrm>
          <a:prstGeom prst="triangle">
            <a:avLst/>
          </a:prstGeom>
          <a:solidFill>
            <a:srgbClr val="3E9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5948172" y="8603061"/>
            <a:ext cx="310896" cy="310896"/>
          </a:xfrm>
          <a:prstGeom prst="ellipse">
            <a:avLst/>
          </a:prstGeom>
          <a:solidFill>
            <a:srgbClr val="3E9B2F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 Black"/>
                <a:ea typeface="Microsoft YaHe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0" y="8932245"/>
            <a:ext cx="868680" cy="45720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900" b="1">
                <a:solidFill>
                  <a:srgbClr val="3E9B2F"/>
                </a:solidFill>
                <a:latin typeface="Arial"/>
                <a:ea typeface="Microsoft YaHei"/>
              </a:rPr>
              <a:t>长线布局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320" y="9878263"/>
            <a:ext cx="63093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9878263"/>
            <a:ext cx="457200" cy="420624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2000" b="1">
                <a:solidFill>
                  <a:srgbClr val="1565E0"/>
                </a:solidFill>
                <a:latin typeface="Arial"/>
                <a:ea typeface="Microsoft YaHei"/>
              </a:rPr>
              <a:t>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9878263"/>
            <a:ext cx="5577840" cy="420624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300" b="1">
                <a:solidFill>
                  <a:srgbClr val="0B2A6B"/>
                </a:solidFill>
                <a:latin typeface="Arial Black"/>
                <a:ea typeface="Microsoft YaHei"/>
              </a:rPr>
              <a:t>钱不会消失，只会提前流向</a:t>
            </a:r>
            <a:r>
              <a:rPr sz="1300" b="1">
                <a:solidFill>
                  <a:srgbClr val="F26A1B"/>
                </a:solidFill>
                <a:latin typeface="Arial Black"/>
                <a:ea typeface="Microsoft YaHei"/>
              </a:rPr>
              <a:t>更高回报</a:t>
            </a:r>
            <a:r>
              <a:rPr sz="1300" b="1">
                <a:solidFill>
                  <a:srgbClr val="0B2A6B"/>
                </a:solidFill>
                <a:latin typeface="Arial Black"/>
                <a:ea typeface="Microsoft YaHei"/>
              </a:rPr>
              <a:t>的方向。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22960" y="10381183"/>
            <a:ext cx="5212080" cy="329184"/>
          </a:xfrm>
          <a:prstGeom prst="roundRect">
            <a:avLst>
              <a:gd name="adj" fmla="val 20000"/>
            </a:avLst>
          </a:prstGeom>
          <a:solidFill>
            <a:srgbClr val="1B24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22960" y="10381183"/>
            <a:ext cx="5212080" cy="329184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  <a:ea typeface="Microsoft YaHei"/>
              </a:rPr>
              <a:t>重仓存储 • 配置光通信 • 观察能源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74320" y="10783519"/>
            <a:ext cx="149504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47472" y="10820095"/>
            <a:ext cx="1348740" cy="841248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100" b="1">
                <a:solidFill>
                  <a:srgbClr val="F26A1B"/>
                </a:solidFill>
                <a:latin typeface="Arial"/>
                <a:ea typeface="Microsoft YaHei"/>
              </a:rPr>
              <a:t>重仓</a:t>
            </a:r>
            <a:r>
              <a:rPr sz="900" b="0">
                <a:solidFill>
                  <a:srgbClr val="6B7280"/>
                </a:solidFill>
                <a:latin typeface="Arial"/>
                <a:ea typeface="Microsoft YaHei"/>
              </a:rPr>
              <a:t> (核心)</a:t>
            </a:r>
          </a:p>
          <a:p>
            <a:pPr algn="ctr"/>
            <a:r>
              <a:rPr sz="1200" b="1">
                <a:solidFill>
                  <a:srgbClr val="0B2A6B"/>
                </a:solidFill>
                <a:latin typeface="Arial"/>
                <a:ea typeface="Microsoft YaHei"/>
              </a:rPr>
              <a:t>存储 (HBM)</a:t>
            </a:r>
          </a:p>
          <a:p>
            <a:pPr algn="ctr"/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当前最强弹性</a:t>
            </a:r>
          </a:p>
          <a:p>
            <a:pPr algn="ctr"/>
            <a:r>
              <a:rPr sz="1200" b="0">
                <a:solidFill>
                  <a:srgbClr val="F26A1B"/>
                </a:solidFill>
                <a:latin typeface="Arial"/>
                <a:ea typeface="Microsoft YaHei"/>
              </a:rPr>
              <a:t>★★★★★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879091" y="10783519"/>
            <a:ext cx="149504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952243" y="10820095"/>
            <a:ext cx="1348740" cy="841248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100" b="1">
                <a:solidFill>
                  <a:srgbClr val="F5A623"/>
                </a:solidFill>
                <a:latin typeface="Arial"/>
                <a:ea typeface="Microsoft YaHei"/>
              </a:rPr>
              <a:t>配置</a:t>
            </a:r>
            <a:r>
              <a:rPr sz="900" b="0">
                <a:solidFill>
                  <a:srgbClr val="6B7280"/>
                </a:solidFill>
                <a:latin typeface="Arial"/>
                <a:ea typeface="Microsoft YaHei"/>
              </a:rPr>
              <a:t> (关注)</a:t>
            </a:r>
          </a:p>
          <a:p>
            <a:pPr algn="ctr"/>
            <a:r>
              <a:rPr sz="1200" b="1">
                <a:solidFill>
                  <a:srgbClr val="0B2A6B"/>
                </a:solidFill>
                <a:latin typeface="Arial"/>
                <a:ea typeface="Microsoft YaHei"/>
              </a:rPr>
              <a:t>光通信</a:t>
            </a:r>
          </a:p>
          <a:p>
            <a:pPr algn="ctr"/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早期高成长</a:t>
            </a:r>
          </a:p>
          <a:p>
            <a:pPr algn="ctr"/>
            <a:r>
              <a:rPr sz="1200" b="0">
                <a:solidFill>
                  <a:srgbClr val="F5A623"/>
                </a:solidFill>
                <a:latin typeface="Arial"/>
                <a:ea typeface="Microsoft YaHei"/>
              </a:rPr>
              <a:t>★★★⯪☆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483863" y="10783519"/>
            <a:ext cx="149504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57015" y="10820095"/>
            <a:ext cx="1348740" cy="841248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100" b="1">
                <a:solidFill>
                  <a:srgbClr val="1565E0"/>
                </a:solidFill>
                <a:latin typeface="Arial"/>
                <a:ea typeface="Microsoft YaHei"/>
              </a:rPr>
              <a:t>持有</a:t>
            </a:r>
            <a:r>
              <a:rPr sz="900" b="0">
                <a:solidFill>
                  <a:srgbClr val="6B7280"/>
                </a:solidFill>
                <a:latin typeface="Arial"/>
                <a:ea typeface="Microsoft YaHei"/>
              </a:rPr>
              <a:t> (稳健)</a:t>
            </a:r>
          </a:p>
          <a:p>
            <a:pPr algn="ctr"/>
            <a:r>
              <a:rPr sz="1200" b="1">
                <a:solidFill>
                  <a:srgbClr val="0B2A6B"/>
                </a:solidFill>
                <a:latin typeface="Arial"/>
                <a:ea typeface="Microsoft YaHei"/>
              </a:rPr>
              <a:t>数据中心</a:t>
            </a:r>
          </a:p>
          <a:p>
            <a:pPr algn="ctr"/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稳健受益</a:t>
            </a:r>
          </a:p>
          <a:p>
            <a:pPr algn="ctr"/>
            <a:r>
              <a:rPr sz="1200" b="0">
                <a:solidFill>
                  <a:srgbClr val="1565E0"/>
                </a:solidFill>
                <a:latin typeface="Arial"/>
                <a:ea typeface="Microsoft YaHei"/>
              </a:rPr>
              <a:t>★★★☆☆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088636" y="10783519"/>
            <a:ext cx="1495044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61788" y="10820095"/>
            <a:ext cx="1348740" cy="841248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ctr"/>
            <a:r>
              <a:rPr sz="1100" b="1">
                <a:solidFill>
                  <a:srgbClr val="6B7280"/>
                </a:solidFill>
                <a:latin typeface="Arial"/>
                <a:ea typeface="Microsoft YaHei"/>
              </a:rPr>
              <a:t>观察</a:t>
            </a:r>
            <a:r>
              <a:rPr sz="900" b="0">
                <a:solidFill>
                  <a:srgbClr val="6B7280"/>
                </a:solidFill>
                <a:latin typeface="Arial"/>
                <a:ea typeface="Microsoft YaHei"/>
              </a:rPr>
              <a:t> (长线)</a:t>
            </a:r>
          </a:p>
          <a:p>
            <a:pPr algn="ctr"/>
            <a:r>
              <a:rPr sz="1200" b="1">
                <a:solidFill>
                  <a:srgbClr val="0B2A6B"/>
                </a:solidFill>
                <a:latin typeface="Arial"/>
                <a:ea typeface="Microsoft YaHei"/>
              </a:rPr>
              <a:t>能源</a:t>
            </a:r>
          </a:p>
          <a:p>
            <a:pPr algn="ctr"/>
            <a:r>
              <a:rPr sz="900" b="0">
                <a:solidFill>
                  <a:srgbClr val="1F2A44"/>
                </a:solidFill>
                <a:latin typeface="Arial"/>
                <a:ea typeface="Microsoft YaHei"/>
              </a:rPr>
              <a:t>长周期价值</a:t>
            </a:r>
          </a:p>
          <a:p>
            <a:pPr algn="ctr"/>
            <a:r>
              <a:rPr sz="1200" b="0">
                <a:solidFill>
                  <a:srgbClr val="6B7280"/>
                </a:solidFill>
                <a:latin typeface="Arial"/>
                <a:ea typeface="Microsoft YaHei"/>
              </a:rPr>
              <a:t>★★☆☆☆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4320" y="11807647"/>
            <a:ext cx="4297680" cy="347472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700" b="1">
                <a:solidFill>
                  <a:srgbClr val="6B7280"/>
                </a:solidFill>
                <a:latin typeface="Arial"/>
                <a:ea typeface="Microsoft YaHei"/>
              </a:rPr>
              <a:t>Sources: </a:t>
            </a:r>
            <a:r>
              <a:rPr sz="700" b="0">
                <a:solidFill>
                  <a:srgbClr val="6B7280"/>
                </a:solidFill>
                <a:latin typeface="Arial"/>
                <a:ea typeface="Microsoft YaHei"/>
              </a:rPr>
              <a:t>Illustrative example only — not investment advice.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17720" y="11670487"/>
            <a:ext cx="2011680" cy="484632"/>
          </a:xfrm>
          <a:prstGeom prst="rect">
            <a:avLst/>
          </a:prstGeom>
          <a:noFill/>
        </p:spPr>
        <p:txBody>
          <a:bodyPr wrap="square" anchor="b" lIns="27432" rIns="27432" tIns="27432" bIns="27432"/>
          <a:lstStyle/>
          <a:p>
            <a:pPr algn="r"/>
            <a:r>
              <a:rPr sz="900" b="1">
                <a:solidFill>
                  <a:srgbClr val="0B2A6B"/>
                </a:solidFill>
                <a:latin typeface="Arial"/>
                <a:ea typeface="Microsoft YaHei"/>
              </a:rPr>
              <a:t>看趋势 · 把握方向</a:t>
            </a:r>
          </a:p>
          <a:p>
            <a:pPr algn="r"/>
            <a:r>
              <a:rPr sz="700" b="0">
                <a:solidFill>
                  <a:srgbClr val="6B7280"/>
                </a:solidFill>
                <a:latin typeface="Arial"/>
                <a:ea typeface="Microsoft YaHei"/>
              </a:rPr>
              <a:t>Confidential | For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114800" y="10637215"/>
            <a:ext cx="3840480" cy="2743200"/>
          </a:xfrm>
          <a:prstGeom prst="ellipse">
            <a:avLst/>
          </a:prstGeom>
          <a:solidFill>
            <a:srgbClr val="EDF4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6309360" cy="408939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2000" b="1">
                <a:solidFill>
                  <a:srgbClr val="0B2A6B"/>
                </a:solidFill>
                <a:latin typeface="Arial Black"/>
                <a:ea typeface="Microsoft YaHei"/>
              </a:rPr>
              <a:t>Country Opportunity: Different markets, </a:t>
            </a:r>
            <a:r>
              <a:rPr sz="2000" b="1">
                <a:solidFill>
                  <a:srgbClr val="F26A1B"/>
                </a:solidFill>
                <a:latin typeface="Arial Black"/>
                <a:ea typeface="Microsoft YaHei"/>
              </a:rPr>
              <a:t>big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73531"/>
            <a:ext cx="6309360" cy="310896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ctr"/>
            <a:r>
              <a:rPr sz="1200" b="0">
                <a:solidFill>
                  <a:srgbClr val="6B7280"/>
                </a:solidFill>
                <a:latin typeface="Arial"/>
                <a:ea typeface="Microsoft YaHei"/>
              </a:rPr>
              <a:t>—— </a:t>
            </a:r>
            <a:r>
              <a:rPr sz="1200" b="1">
                <a:solidFill>
                  <a:srgbClr val="1F2A44"/>
                </a:solidFill>
                <a:latin typeface="Arial"/>
                <a:ea typeface="Microsoft YaHei"/>
              </a:rPr>
              <a:t>Data center investment accelerating</a:t>
            </a:r>
            <a:r>
              <a:rPr sz="1200" b="0">
                <a:solidFill>
                  <a:srgbClr val="6B7280"/>
                </a:solidFill>
                <a:latin typeface="Arial"/>
                <a:ea typeface="Microsoft YaHei"/>
              </a:rPr>
              <a:t> ——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3570833"/>
            <a:ext cx="3086100" cy="237744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31750">
            <a:solidFill>
              <a:srgbClr val="1565E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79" y="3589121"/>
            <a:ext cx="2811780" cy="54864"/>
          </a:xfrm>
          <a:prstGeom prst="rect">
            <a:avLst/>
          </a:prstGeom>
          <a:solidFill>
            <a:srgbClr val="1565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79" y="3753713"/>
            <a:ext cx="384048" cy="384048"/>
          </a:xfrm>
          <a:prstGeom prst="ellipse">
            <a:avLst/>
          </a:prstGeom>
          <a:solidFill>
            <a:srgbClr val="1565E0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 Black"/>
                <a:ea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17137"/>
            <a:ext cx="2400300" cy="54864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1565E0"/>
                </a:solidFill>
                <a:latin typeface="Arial Black"/>
                <a:ea typeface="Microsoft YaHei"/>
              </a:rPr>
              <a:t>Malaysia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  <a:ea typeface="Microsoft YaHei"/>
              </a:rPr>
              <a:t>Johor DC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02353"/>
            <a:ext cx="2766060" cy="155448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0">
                <a:solidFill>
                  <a:srgbClr val="F26A1B"/>
                </a:solidFill>
                <a:latin typeface="Arial"/>
                <a:ea typeface="Microsoft YaHei"/>
              </a:rPr>
              <a:t>★★★★★</a:t>
            </a:r>
          </a:p>
          <a:p>
            <a:pPr algn="l"/>
            <a:r>
              <a:rPr sz="1000" b="1">
                <a:solidFill>
                  <a:srgbClr val="1565E0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Hyperscaler inflow</a:t>
            </a:r>
          </a:p>
          <a:p>
            <a:pPr algn="l"/>
            <a:r>
              <a:rPr sz="1000" b="1">
                <a:solidFill>
                  <a:srgbClr val="1565E0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DCI &amp; cloud backbone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7579" y="3570833"/>
            <a:ext cx="30861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26A1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34739" y="3589121"/>
            <a:ext cx="2811780" cy="54864"/>
          </a:xfrm>
          <a:prstGeom prst="rect">
            <a:avLst/>
          </a:prstGeom>
          <a:solidFill>
            <a:srgbClr val="F26A1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34739" y="3753713"/>
            <a:ext cx="384048" cy="384048"/>
          </a:xfrm>
          <a:prstGeom prst="ellipse">
            <a:avLst/>
          </a:prstGeom>
          <a:solidFill>
            <a:srgbClr val="F26A1B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 Black"/>
                <a:ea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1939" y="3717137"/>
            <a:ext cx="2400300" cy="54864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F26A1B"/>
                </a:solidFill>
                <a:latin typeface="Arial Black"/>
                <a:ea typeface="Microsoft YaHei"/>
              </a:rPr>
              <a:t>Singapore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  <a:ea typeface="Microsoft YaHei"/>
              </a:rPr>
              <a:t>Regional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0459" y="4302353"/>
            <a:ext cx="2766060" cy="155448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0">
                <a:solidFill>
                  <a:srgbClr val="F5A623"/>
                </a:solidFill>
                <a:latin typeface="Arial"/>
                <a:ea typeface="Microsoft YaHei"/>
              </a:rPr>
              <a:t>★★★★⯪</a:t>
            </a:r>
          </a:p>
          <a:p>
            <a:pPr algn="l"/>
            <a:r>
              <a:rPr sz="1000" b="1">
                <a:solidFill>
                  <a:srgbClr val="F26A1B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DCI &amp; peering</a:t>
            </a:r>
          </a:p>
          <a:p>
            <a:pPr algn="l"/>
            <a:r>
              <a:rPr sz="1000" b="1">
                <a:solidFill>
                  <a:srgbClr val="F26A1B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Cloud backbone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6085433"/>
            <a:ext cx="30861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A2BD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79" y="6103721"/>
            <a:ext cx="2811780" cy="54864"/>
          </a:xfrm>
          <a:prstGeom prst="rect">
            <a:avLst/>
          </a:prstGeom>
          <a:solidFill>
            <a:srgbClr val="6A2B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1479" y="6268313"/>
            <a:ext cx="384048" cy="384048"/>
          </a:xfrm>
          <a:prstGeom prst="ellipse">
            <a:avLst/>
          </a:prstGeom>
          <a:solidFill>
            <a:srgbClr val="6A2BD9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 Black"/>
                <a:ea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6231737"/>
            <a:ext cx="2400300" cy="54864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6A2BD9"/>
                </a:solidFill>
                <a:latin typeface="Arial Black"/>
                <a:ea typeface="Microsoft YaHei"/>
              </a:rPr>
              <a:t>Indonesia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  <a:ea typeface="Microsoft YaHei"/>
              </a:rPr>
              <a:t>Large population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816953"/>
            <a:ext cx="2766060" cy="155448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0">
                <a:solidFill>
                  <a:srgbClr val="F5A623"/>
                </a:solidFill>
                <a:latin typeface="Arial"/>
                <a:ea typeface="Microsoft YaHei"/>
              </a:rPr>
              <a:t>★★★★⯪</a:t>
            </a:r>
          </a:p>
          <a:p>
            <a:pPr algn="l"/>
            <a:r>
              <a:rPr sz="1000" b="1">
                <a:solidFill>
                  <a:srgbClr val="6A2BD9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5G &amp; broadband</a:t>
            </a:r>
          </a:p>
          <a:p>
            <a:pPr algn="l"/>
            <a:r>
              <a:rPr sz="1000" b="1">
                <a:solidFill>
                  <a:srgbClr val="6A2BD9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DC &amp; cloud growth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7579" y="6085433"/>
            <a:ext cx="30861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E8F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34739" y="6103721"/>
            <a:ext cx="2811780" cy="54864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34739" y="6268313"/>
            <a:ext cx="384048" cy="384048"/>
          </a:xfrm>
          <a:prstGeom prst="ellipse">
            <a:avLst/>
          </a:prstGeom>
          <a:solidFill>
            <a:srgbClr val="0E8F8F"/>
          </a:solidFill>
          <a:ln w="19050">
            <a:solidFill>
              <a:srgbClr val="FFFFFF"/>
            </a:solidFill>
          </a:ln>
          <a:effectLst/>
        </p:spPr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 Black"/>
                <a:ea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91939" y="6231737"/>
            <a:ext cx="2400300" cy="54864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1">
                <a:solidFill>
                  <a:srgbClr val="0E8F8F"/>
                </a:solidFill>
                <a:latin typeface="Arial Black"/>
                <a:ea typeface="Microsoft YaHei"/>
              </a:rPr>
              <a:t>Taiwan</a:t>
            </a:r>
          </a:p>
          <a:p>
            <a:pPr algn="l"/>
            <a:r>
              <a:rPr sz="1000" b="0">
                <a:solidFill>
                  <a:srgbClr val="6B7280"/>
                </a:solidFill>
                <a:latin typeface="Arial"/>
                <a:ea typeface="Microsoft YaHei"/>
              </a:rPr>
              <a:t>TANet upgrade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0459" y="6816953"/>
            <a:ext cx="2766060" cy="1554480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1500" b="0">
                <a:solidFill>
                  <a:srgbClr val="F5A623"/>
                </a:solidFill>
                <a:latin typeface="Arial"/>
                <a:ea typeface="Microsoft YaHei"/>
              </a:rPr>
              <a:t>★★★★⯪</a:t>
            </a:r>
          </a:p>
          <a:p>
            <a:pPr algn="l"/>
            <a:r>
              <a:rPr sz="1000" b="1">
                <a:solidFill>
                  <a:srgbClr val="0E8F8F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AI/HPC &amp; semiconductor</a:t>
            </a:r>
          </a:p>
          <a:p>
            <a:pPr algn="l"/>
            <a:r>
              <a:rPr sz="1000" b="1">
                <a:solidFill>
                  <a:srgbClr val="0E8F8F"/>
                </a:solidFill>
                <a:latin typeface="Arial"/>
                <a:ea typeface="Microsoft YaHei"/>
              </a:rPr>
              <a:t>✓ </a:t>
            </a:r>
            <a:r>
              <a:rPr sz="1000" b="0">
                <a:solidFill>
                  <a:srgbClr val="1F2A44"/>
                </a:solidFill>
                <a:latin typeface="Arial"/>
                <a:ea typeface="Microsoft YaHei"/>
              </a:rPr>
              <a:t>High-end routers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8645753"/>
            <a:ext cx="6309360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DE3E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8645753"/>
            <a:ext cx="457200" cy="420624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2000" b="1">
                <a:solidFill>
                  <a:srgbClr val="1565E0"/>
                </a:solidFill>
                <a:latin typeface="Arial"/>
                <a:ea typeface="Microsoft YaHei"/>
              </a:rPr>
              <a:t>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8645753"/>
            <a:ext cx="5577840" cy="420624"/>
          </a:xfrm>
          <a:prstGeom prst="rect">
            <a:avLst/>
          </a:prstGeom>
          <a:noFill/>
        </p:spPr>
        <p:txBody>
          <a:bodyPr wrap="square" anchor="ctr" lIns="27432" rIns="27432" tIns="27432" bIns="27432"/>
          <a:lstStyle/>
          <a:p>
            <a:pPr algn="l"/>
            <a:r>
              <a:rPr sz="1300" b="1">
                <a:solidFill>
                  <a:srgbClr val="0B2A6B"/>
                </a:solidFill>
                <a:latin typeface="Arial Black"/>
                <a:ea typeface="Microsoft YaHei"/>
              </a:rPr>
              <a:t>IP Routing </a:t>
            </a:r>
            <a:r>
              <a:rPr sz="1300" b="1">
                <a:solidFill>
                  <a:srgbClr val="F26A1B"/>
                </a:solidFill>
                <a:latin typeface="Arial Black"/>
                <a:ea typeface="Microsoft YaHei"/>
              </a:rPr>
              <a:t>Connects Today.</a:t>
            </a:r>
            <a:r>
              <a:rPr sz="1300" b="1">
                <a:solidFill>
                  <a:srgbClr val="0B2A6B"/>
                </a:solidFill>
                <a:latin typeface="Arial Black"/>
                <a:ea typeface="Microsoft YaHei"/>
              </a:rPr>
              <a:t> AI Builds Tomorrow.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11807647"/>
            <a:ext cx="4297680" cy="347472"/>
          </a:xfrm>
          <a:prstGeom prst="rect">
            <a:avLst/>
          </a:prstGeom>
          <a:noFill/>
        </p:spPr>
        <p:txBody>
          <a:bodyPr wrap="square" anchor="t" lIns="27432" rIns="27432" tIns="27432" bIns="27432"/>
          <a:lstStyle/>
          <a:p>
            <a:pPr algn="l"/>
            <a:r>
              <a:rPr sz="700" b="1">
                <a:solidFill>
                  <a:srgbClr val="6B7280"/>
                </a:solidFill>
                <a:latin typeface="Arial"/>
                <a:ea typeface="Microsoft YaHei"/>
              </a:rPr>
              <a:t>Sources: </a:t>
            </a:r>
            <a:r>
              <a:rPr sz="700" b="0">
                <a:solidFill>
                  <a:srgbClr val="6B7280"/>
                </a:solidFill>
                <a:latin typeface="Arial"/>
                <a:ea typeface="Microsoft YaHei"/>
              </a:rPr>
              <a:t>IDC Worldwide Quarterly Router Tracker (illustrative).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11670487"/>
            <a:ext cx="2011680" cy="484632"/>
          </a:xfrm>
          <a:prstGeom prst="rect">
            <a:avLst/>
          </a:prstGeom>
          <a:noFill/>
        </p:spPr>
        <p:txBody>
          <a:bodyPr wrap="square" anchor="b" lIns="27432" rIns="27432" tIns="27432" bIns="27432"/>
          <a:lstStyle/>
          <a:p>
            <a:pPr algn="r"/>
            <a:r>
              <a:rPr sz="700" b="0">
                <a:solidFill>
                  <a:srgbClr val="6B7280"/>
                </a:solidFill>
                <a:latin typeface="Arial"/>
                <a:ea typeface="Microsoft YaHei"/>
              </a:rPr>
              <a:t>Confidential | For Internal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